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Hello, we are Group 41, registration numbers EG/2021/4754 and EG/2021/4706. Our project is MiniChain, a cryptocurrency transaction system with an attack lab. The domain is blockchain and cyber security. The application: a from-scratch blockchain where users send signed payments, miners secure them with proof-of-work, and an attack lab shows how forgery, double spending, tampering and 51 percent attacks are stopped, or where they succeed.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0:20–0:50  Today, a bank or payment company keeps the ledger, so we must trust it. History can be edited, payments can be forged, and the same money can be spent twice. A blockchain removes the middleman: every payment is signed by its owner, grouped into blocks that are linked by hashes, and secured by proof-of-work, so anyone can verify every coin.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0:50–1:25  A wallet has a secp256k1 key pair; the address is a hash of the public key. It signs each payment with ECDSA, including a nonce and a fee. Nodes validate the signature, balance and nonce, then miners put pending payments into a block with a Merkle root and search for a nonce so the hash starts with zeros: that is proof-of-work. The miner earns a reward plus fees. Every block stores the previous block's hash, and three peers gossip blocks and pick the chain with the most work. It is all built from scratch in Node.js with no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1:25–2:10  This is the live dashboard. Alice sends coins to Bob and Carol; the payments wait in the mempool, then a miner seals them into block 2 and earns the reward plus fees. The chain is valid. Now the attack lab edits Alice's payment inside block 2 from 20 coins to 2000. The Merkle root no longer matches, so the dashboard flags the chain invalid at exactly block 2, and the link to the next block turns 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2:10–2:40  We attacked our own chain. A forged sender, a double spend, a replayed payment and a tampered block are all rejected. Even a small 51 percent attacker fails because their fork has less work. But a majority attacker succeeds and rewrites history: this is the inherent limit of proof-of-work. To defend: wait for about six confirmations before treating a payment as final, raise the difficulty, add checkpoints so nodes will not reorganise past agreed blocks, or move to a consensus with finality such as proof of stake.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2:40–3:00  In conclusion: MiniChain gives a tamper-evident ledger with signed, replay-proof payments, proof-of-work consensus and a working peer-to-peer network, and it shows honestly where the design breaks: a majority attacker. Future work is dynamic difficulty, authenticated peers, disk persistence and checkpoints. Thank you. The source code is on GitHub and the full video is on YouTube.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s://youtu.be/AgEqoAu_Oq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2031949" cy="82296"/>
          </a:xfrm>
          <a:prstGeom prst="rect">
            <a:avLst/>
          </a:prstGeom>
          <a:solidFill>
            <a:srgbClr val="6EA8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7315200" cy="365760"/>
          </a:xfrm>
          <a:prstGeom prst="rect">
            <a:avLst/>
          </a:prstGeom>
          <a:noFill/>
        </p:spPr>
        <p:txBody>
          <a:bodyPr wrap="square">
            <a:spAutoFit/>
          </a:bodyPr>
          <a:lstStyle/>
          <a:p>
            <a:pPr>
              <a:spcAft>
                <a:spcPts val="600"/>
              </a:spcAft>
            </a:pPr>
            <a:r>
              <a:rPr sz="1300" b="1">
                <a:solidFill>
                  <a:srgbClr val="6EA8FE"/>
                </a:solidFill>
              </a:rPr>
              <a:t>EC8204 BLOCKCHAIN AND CYBER SECURITY · GROUP PROJECT</a:t>
            </a:r>
          </a:p>
        </p:txBody>
      </p:sp>
      <p:sp>
        <p:nvSpPr>
          <p:cNvPr id="4" name="TextBox 3"/>
          <p:cNvSpPr txBox="1"/>
          <p:nvPr/>
        </p:nvSpPr>
        <p:spPr>
          <a:xfrm>
            <a:off x="640080" y="566928"/>
            <a:ext cx="10972800" cy="914400"/>
          </a:xfrm>
          <a:prstGeom prst="rect">
            <a:avLst/>
          </a:prstGeom>
          <a:noFill/>
        </p:spPr>
        <p:txBody>
          <a:bodyPr wrap="square">
            <a:spAutoFit/>
          </a:bodyPr>
          <a:lstStyle/>
          <a:p>
            <a:pPr>
              <a:spcAft>
                <a:spcPts val="600"/>
              </a:spcAft>
            </a:pPr>
            <a:r>
              <a:rPr sz="3400" b="1">
                <a:solidFill>
                  <a:srgbClr val="E9EDF7"/>
                </a:solidFill>
              </a:rPr>
              <a:t>MiniChain</a:t>
            </a:r>
          </a:p>
        </p:txBody>
      </p:sp>
      <p:sp>
        <p:nvSpPr>
          <p:cNvPr id="5" name="TextBox 4"/>
          <p:cNvSpPr txBox="1"/>
          <p:nvPr/>
        </p:nvSpPr>
        <p:spPr>
          <a:xfrm>
            <a:off x="640080" y="6419088"/>
            <a:ext cx="8229600" cy="320040"/>
          </a:xfrm>
          <a:prstGeom prst="rect">
            <a:avLst/>
          </a:prstGeom>
          <a:noFill/>
        </p:spPr>
        <p:txBody>
          <a:bodyPr wrap="square">
            <a:spAutoFit/>
          </a:bodyPr>
          <a:lstStyle/>
          <a:p>
            <a:pPr>
              <a:spcAft>
                <a:spcPts val="600"/>
              </a:spcAft>
            </a:pPr>
            <a:r>
              <a:rPr sz="1100" b="0">
                <a:solidFill>
                  <a:srgbClr val="8592B0"/>
                </a:solidFill>
              </a:rPr>
              <a:t>MiniChain  ·  EC8204  ·  Group 41  ·  EG/2021/4754  ·  EG/2021/4706</a:t>
            </a:r>
          </a:p>
        </p:txBody>
      </p:sp>
      <p:sp>
        <p:nvSpPr>
          <p:cNvPr id="6" name="TextBox 5"/>
          <p:cNvSpPr txBox="1"/>
          <p:nvPr/>
        </p:nvSpPr>
        <p:spPr>
          <a:xfrm>
            <a:off x="10881360" y="6419088"/>
            <a:ext cx="731520" cy="320040"/>
          </a:xfrm>
          <a:prstGeom prst="rect">
            <a:avLst/>
          </a:prstGeom>
          <a:noFill/>
        </p:spPr>
        <p:txBody>
          <a:bodyPr wrap="square">
            <a:spAutoFit/>
          </a:bodyPr>
          <a:lstStyle/>
          <a:p>
            <a:pPr>
              <a:spcAft>
                <a:spcPts val="600"/>
              </a:spcAft>
            </a:pPr>
            <a:r>
              <a:rPr sz="1100" b="0">
                <a:solidFill>
                  <a:srgbClr val="8592B0"/>
                </a:solidFill>
              </a:rPr>
              <a:t>1 / 6</a:t>
            </a:r>
          </a:p>
        </p:txBody>
      </p:sp>
      <p:sp>
        <p:nvSpPr>
          <p:cNvPr id="7" name="Rounded Rectangle 6"/>
          <p:cNvSpPr/>
          <p:nvPr/>
        </p:nvSpPr>
        <p:spPr>
          <a:xfrm>
            <a:off x="7223760" y="365760"/>
            <a:ext cx="4297680" cy="1051560"/>
          </a:xfrm>
          <a:prstGeom prst="roundRect">
            <a:avLst>
              <a:gd name="adj" fmla="val 15000"/>
            </a:avLst>
          </a:prstGeom>
          <a:solidFill>
            <a:srgbClr val="131A2E"/>
          </a:solidFill>
          <a:ln w="19050">
            <a:solidFill>
              <a:srgbClr val="6EA8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0" y="429768"/>
            <a:ext cx="3931920" cy="365760"/>
          </a:xfrm>
          <a:prstGeom prst="rect">
            <a:avLst/>
          </a:prstGeom>
          <a:noFill/>
        </p:spPr>
        <p:txBody>
          <a:bodyPr wrap="square">
            <a:spAutoFit/>
          </a:bodyPr>
          <a:lstStyle/>
          <a:p>
            <a:pPr>
              <a:spcAft>
                <a:spcPts val="600"/>
              </a:spcAft>
            </a:pPr>
            <a:r>
              <a:rPr sz="1300" b="1">
                <a:solidFill>
                  <a:srgbClr val="6EA8FE"/>
                </a:solidFill>
              </a:rPr>
              <a:t>GROUP 41  ·  INDEX NUMBERS</a:t>
            </a:r>
          </a:p>
        </p:txBody>
      </p:sp>
      <p:sp>
        <p:nvSpPr>
          <p:cNvPr id="9" name="TextBox 8"/>
          <p:cNvSpPr txBox="1"/>
          <p:nvPr/>
        </p:nvSpPr>
        <p:spPr>
          <a:xfrm>
            <a:off x="7406640" y="731520"/>
            <a:ext cx="4023360" cy="640080"/>
          </a:xfrm>
          <a:prstGeom prst="rect">
            <a:avLst/>
          </a:prstGeom>
          <a:noFill/>
        </p:spPr>
        <p:txBody>
          <a:bodyPr wrap="square">
            <a:spAutoFit/>
          </a:bodyPr>
          <a:lstStyle/>
          <a:p>
            <a:pPr>
              <a:spcAft>
                <a:spcPts val="600"/>
              </a:spcAft>
            </a:pPr>
            <a:r>
              <a:rPr sz="1600" b="1">
                <a:solidFill>
                  <a:srgbClr val="E9EDF7"/>
                </a:solidFill>
              </a:rPr>
              <a:t>EG/2021/4754  Rathnayaka I.G.T.A</a:t>
            </a:r>
          </a:p>
          <a:p>
            <a:pPr>
              <a:spcAft>
                <a:spcPts val="600"/>
              </a:spcAft>
            </a:pPr>
            <a:r>
              <a:rPr sz="1600" b="1">
                <a:solidFill>
                  <a:srgbClr val="E9EDF7"/>
                </a:solidFill>
              </a:rPr>
              <a:t>EG/2021/4706  Peiris P R S</a:t>
            </a:r>
          </a:p>
        </p:txBody>
      </p:sp>
      <p:sp>
        <p:nvSpPr>
          <p:cNvPr id="10" name="Rounded Rectangle 9"/>
          <p:cNvSpPr/>
          <p:nvPr/>
        </p:nvSpPr>
        <p:spPr>
          <a:xfrm>
            <a:off x="640080" y="1600200"/>
            <a:ext cx="10881360" cy="868680"/>
          </a:xfrm>
          <a:prstGeom prst="roundRect">
            <a:avLst>
              <a:gd name="adj" fmla="val 10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83080"/>
            <a:ext cx="2468880" cy="457200"/>
          </a:xfrm>
          <a:prstGeom prst="rect">
            <a:avLst/>
          </a:prstGeom>
          <a:noFill/>
        </p:spPr>
        <p:txBody>
          <a:bodyPr wrap="square">
            <a:spAutoFit/>
          </a:bodyPr>
          <a:lstStyle/>
          <a:p>
            <a:pPr>
              <a:spcAft>
                <a:spcPts val="600"/>
              </a:spcAft>
            </a:pPr>
            <a:r>
              <a:rPr sz="1400" b="1">
                <a:solidFill>
                  <a:srgbClr val="6EA8FE"/>
                </a:solidFill>
              </a:rPr>
              <a:t>PROJECT NAME</a:t>
            </a:r>
          </a:p>
        </p:txBody>
      </p:sp>
      <p:sp>
        <p:nvSpPr>
          <p:cNvPr id="12" name="TextBox 11"/>
          <p:cNvSpPr txBox="1"/>
          <p:nvPr/>
        </p:nvSpPr>
        <p:spPr>
          <a:xfrm>
            <a:off x="3291840" y="1728216"/>
            <a:ext cx="8046720" cy="685800"/>
          </a:xfrm>
          <a:prstGeom prst="rect">
            <a:avLst/>
          </a:prstGeom>
          <a:noFill/>
        </p:spPr>
        <p:txBody>
          <a:bodyPr wrap="square">
            <a:spAutoFit/>
          </a:bodyPr>
          <a:lstStyle/>
          <a:p>
            <a:pPr>
              <a:spcAft>
                <a:spcPts val="600"/>
              </a:spcAft>
            </a:pPr>
            <a:r>
              <a:rPr sz="2000" b="1">
                <a:solidFill>
                  <a:srgbClr val="E9EDF7"/>
                </a:solidFill>
              </a:rPr>
              <a:t>MiniChain – Cryptocurrency Transaction System with Attack Lab</a:t>
            </a:r>
          </a:p>
        </p:txBody>
      </p:sp>
      <p:sp>
        <p:nvSpPr>
          <p:cNvPr id="13" name="Rounded Rectangle 12"/>
          <p:cNvSpPr/>
          <p:nvPr/>
        </p:nvSpPr>
        <p:spPr>
          <a:xfrm>
            <a:off x="640080" y="2606040"/>
            <a:ext cx="10881360" cy="868680"/>
          </a:xfrm>
          <a:prstGeom prst="roundRect">
            <a:avLst>
              <a:gd name="adj" fmla="val 10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788920"/>
            <a:ext cx="2468880" cy="457200"/>
          </a:xfrm>
          <a:prstGeom prst="rect">
            <a:avLst/>
          </a:prstGeom>
          <a:noFill/>
        </p:spPr>
        <p:txBody>
          <a:bodyPr wrap="square">
            <a:spAutoFit/>
          </a:bodyPr>
          <a:lstStyle/>
          <a:p>
            <a:pPr>
              <a:spcAft>
                <a:spcPts val="600"/>
              </a:spcAft>
            </a:pPr>
            <a:r>
              <a:rPr sz="1400" b="1">
                <a:solidFill>
                  <a:srgbClr val="6EA8FE"/>
                </a:solidFill>
              </a:rPr>
              <a:t>DOMAIN</a:t>
            </a:r>
          </a:p>
        </p:txBody>
      </p:sp>
      <p:sp>
        <p:nvSpPr>
          <p:cNvPr id="15" name="TextBox 14"/>
          <p:cNvSpPr txBox="1"/>
          <p:nvPr/>
        </p:nvSpPr>
        <p:spPr>
          <a:xfrm>
            <a:off x="3291840" y="2734056"/>
            <a:ext cx="8046720" cy="685800"/>
          </a:xfrm>
          <a:prstGeom prst="rect">
            <a:avLst/>
          </a:prstGeom>
          <a:noFill/>
        </p:spPr>
        <p:txBody>
          <a:bodyPr wrap="square">
            <a:spAutoFit/>
          </a:bodyPr>
          <a:lstStyle/>
          <a:p>
            <a:pPr>
              <a:spcAft>
                <a:spcPts val="600"/>
              </a:spcAft>
            </a:pPr>
            <a:r>
              <a:rPr sz="2000" b="1">
                <a:solidFill>
                  <a:srgbClr val="E9EDF7"/>
                </a:solidFill>
              </a:rPr>
              <a:t>Blockchain &amp; Cyber Security  (Cryptocurrency · FinTech)</a:t>
            </a:r>
          </a:p>
        </p:txBody>
      </p:sp>
      <p:sp>
        <p:nvSpPr>
          <p:cNvPr id="16" name="Rounded Rectangle 15"/>
          <p:cNvSpPr/>
          <p:nvPr/>
        </p:nvSpPr>
        <p:spPr>
          <a:xfrm>
            <a:off x="640080" y="3611880"/>
            <a:ext cx="10881360" cy="1463040"/>
          </a:xfrm>
          <a:prstGeom prst="roundRect">
            <a:avLst>
              <a:gd name="adj" fmla="val 10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794760"/>
            <a:ext cx="2468880" cy="457200"/>
          </a:xfrm>
          <a:prstGeom prst="rect">
            <a:avLst/>
          </a:prstGeom>
          <a:noFill/>
        </p:spPr>
        <p:txBody>
          <a:bodyPr wrap="square">
            <a:spAutoFit/>
          </a:bodyPr>
          <a:lstStyle/>
          <a:p>
            <a:pPr>
              <a:spcAft>
                <a:spcPts val="600"/>
              </a:spcAft>
            </a:pPr>
            <a:r>
              <a:rPr sz="1400" b="1">
                <a:solidFill>
                  <a:srgbClr val="6EA8FE"/>
                </a:solidFill>
              </a:rPr>
              <a:t>APPLICATION</a:t>
            </a:r>
          </a:p>
        </p:txBody>
      </p:sp>
      <p:sp>
        <p:nvSpPr>
          <p:cNvPr id="18" name="TextBox 17"/>
          <p:cNvSpPr txBox="1"/>
          <p:nvPr/>
        </p:nvSpPr>
        <p:spPr>
          <a:xfrm>
            <a:off x="3291840" y="3739896"/>
            <a:ext cx="8046720" cy="1280160"/>
          </a:xfrm>
          <a:prstGeom prst="rect">
            <a:avLst/>
          </a:prstGeom>
          <a:noFill/>
        </p:spPr>
        <p:txBody>
          <a:bodyPr wrap="square">
            <a:spAutoFit/>
          </a:bodyPr>
          <a:lstStyle/>
          <a:p>
            <a:pPr>
              <a:spcAft>
                <a:spcPts val="600"/>
              </a:spcAft>
            </a:pPr>
            <a:r>
              <a:rPr sz="1700" b="0">
                <a:solidFill>
                  <a:srgbClr val="E9EDF7"/>
                </a:solidFill>
              </a:rPr>
              <a:t>A from-scratch blockchain for signed coin transfers with proof-of-work mining, a peer-to-peer network and an attack lab that demonstrates – and defends against – forgery, double spending, replay, tampering and 51% attacks.</a:t>
            </a:r>
          </a:p>
        </p:txBody>
      </p:sp>
      <p:sp>
        <p:nvSpPr>
          <p:cNvPr id="19" name="Rounded Rectangle 18"/>
          <p:cNvSpPr/>
          <p:nvPr/>
        </p:nvSpPr>
        <p:spPr>
          <a:xfrm>
            <a:off x="640080" y="5257800"/>
            <a:ext cx="10881360" cy="868680"/>
          </a:xfrm>
          <a:prstGeom prst="roundRect">
            <a:avLst>
              <a:gd name="adj" fmla="val 10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440680"/>
            <a:ext cx="2468880" cy="457200"/>
          </a:xfrm>
          <a:prstGeom prst="rect">
            <a:avLst/>
          </a:prstGeom>
          <a:noFill/>
        </p:spPr>
        <p:txBody>
          <a:bodyPr wrap="square">
            <a:spAutoFit/>
          </a:bodyPr>
          <a:lstStyle/>
          <a:p>
            <a:pPr>
              <a:spcAft>
                <a:spcPts val="600"/>
              </a:spcAft>
            </a:pPr>
            <a:r>
              <a:rPr sz="1400" b="1">
                <a:solidFill>
                  <a:srgbClr val="34D399"/>
                </a:solidFill>
              </a:rPr>
              <a:t>3 MIN VIDEO</a:t>
            </a:r>
          </a:p>
        </p:txBody>
      </p:sp>
      <p:sp>
        <p:nvSpPr>
          <p:cNvPr id="21" name="TextBox 20"/>
          <p:cNvSpPr txBox="1"/>
          <p:nvPr/>
        </p:nvSpPr>
        <p:spPr>
          <a:xfrm>
            <a:off x="3291840" y="5385816"/>
            <a:ext cx="8046720" cy="685800"/>
          </a:xfrm>
          <a:prstGeom prst="rect">
            <a:avLst/>
          </a:prstGeom>
          <a:noFill/>
        </p:spPr>
        <p:txBody>
          <a:bodyPr wrap="square">
            <a:spAutoFit/>
          </a:bodyPr>
          <a:lstStyle/>
          <a:p>
            <a:pPr>
              <a:spcAft>
                <a:spcPts val="600"/>
              </a:spcAft>
            </a:pPr>
            <a:r>
              <a:rPr sz="2000" b="0" u="sng">
                <a:solidFill>
                  <a:srgbClr val="6EA8FE"/>
                </a:solidFill>
                <a:hlinkClick r:id="rId3"/>
              </a:rPr>
              <a:t>https://youtu.be/AgEqoAu_OqE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4063898" cy="82296"/>
          </a:xfrm>
          <a:prstGeom prst="rect">
            <a:avLst/>
          </a:prstGeom>
          <a:solidFill>
            <a:srgbClr val="6EA8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7315200" cy="365760"/>
          </a:xfrm>
          <a:prstGeom prst="rect">
            <a:avLst/>
          </a:prstGeom>
          <a:noFill/>
        </p:spPr>
        <p:txBody>
          <a:bodyPr wrap="square">
            <a:spAutoFit/>
          </a:bodyPr>
          <a:lstStyle/>
          <a:p>
            <a:pPr>
              <a:spcAft>
                <a:spcPts val="600"/>
              </a:spcAft>
            </a:pPr>
            <a:r>
              <a:rPr sz="1300" b="1">
                <a:solidFill>
                  <a:srgbClr val="6EA8FE"/>
                </a:solidFill>
              </a:rPr>
              <a:t>PROBLEM → SOLUTION</a:t>
            </a:r>
          </a:p>
        </p:txBody>
      </p:sp>
      <p:sp>
        <p:nvSpPr>
          <p:cNvPr id="4" name="TextBox 3"/>
          <p:cNvSpPr txBox="1"/>
          <p:nvPr/>
        </p:nvSpPr>
        <p:spPr>
          <a:xfrm>
            <a:off x="640080" y="566928"/>
            <a:ext cx="10972800" cy="914400"/>
          </a:xfrm>
          <a:prstGeom prst="rect">
            <a:avLst/>
          </a:prstGeom>
          <a:noFill/>
        </p:spPr>
        <p:txBody>
          <a:bodyPr wrap="square">
            <a:spAutoFit/>
          </a:bodyPr>
          <a:lstStyle/>
          <a:p>
            <a:pPr>
              <a:spcAft>
                <a:spcPts val="600"/>
              </a:spcAft>
            </a:pPr>
            <a:r>
              <a:rPr sz="3400" b="1">
                <a:solidFill>
                  <a:srgbClr val="E9EDF7"/>
                </a:solidFill>
              </a:rPr>
              <a:t>The problem: trusting a middleman with the ledger</a:t>
            </a:r>
          </a:p>
        </p:txBody>
      </p:sp>
      <p:sp>
        <p:nvSpPr>
          <p:cNvPr id="5" name="TextBox 4"/>
          <p:cNvSpPr txBox="1"/>
          <p:nvPr/>
        </p:nvSpPr>
        <p:spPr>
          <a:xfrm>
            <a:off x="640080" y="6419088"/>
            <a:ext cx="8229600" cy="320040"/>
          </a:xfrm>
          <a:prstGeom prst="rect">
            <a:avLst/>
          </a:prstGeom>
          <a:noFill/>
        </p:spPr>
        <p:txBody>
          <a:bodyPr wrap="square">
            <a:spAutoFit/>
          </a:bodyPr>
          <a:lstStyle/>
          <a:p>
            <a:pPr>
              <a:spcAft>
                <a:spcPts val="600"/>
              </a:spcAft>
            </a:pPr>
            <a:r>
              <a:rPr sz="1100" b="0">
                <a:solidFill>
                  <a:srgbClr val="8592B0"/>
                </a:solidFill>
              </a:rPr>
              <a:t>MiniChain  ·  EC8204  ·  Group 41  ·  EG/2021/4754  ·  EG/2021/4706</a:t>
            </a:r>
          </a:p>
        </p:txBody>
      </p:sp>
      <p:sp>
        <p:nvSpPr>
          <p:cNvPr id="6" name="TextBox 5"/>
          <p:cNvSpPr txBox="1"/>
          <p:nvPr/>
        </p:nvSpPr>
        <p:spPr>
          <a:xfrm>
            <a:off x="10881360" y="6419088"/>
            <a:ext cx="731520" cy="320040"/>
          </a:xfrm>
          <a:prstGeom prst="rect">
            <a:avLst/>
          </a:prstGeom>
          <a:noFill/>
        </p:spPr>
        <p:txBody>
          <a:bodyPr wrap="square">
            <a:spAutoFit/>
          </a:bodyPr>
          <a:lstStyle/>
          <a:p>
            <a:pPr>
              <a:spcAft>
                <a:spcPts val="600"/>
              </a:spcAft>
            </a:pPr>
            <a:r>
              <a:rPr sz="1100" b="0">
                <a:solidFill>
                  <a:srgbClr val="8592B0"/>
                </a:solidFill>
              </a:rPr>
              <a:t>2 / 6</a:t>
            </a:r>
          </a:p>
        </p:txBody>
      </p:sp>
      <p:sp>
        <p:nvSpPr>
          <p:cNvPr id="7" name="Rounded Rectangle 6"/>
          <p:cNvSpPr/>
          <p:nvPr/>
        </p:nvSpPr>
        <p:spPr>
          <a:xfrm>
            <a:off x="640080" y="1737360"/>
            <a:ext cx="5029200" cy="4206240"/>
          </a:xfrm>
          <a:prstGeom prst="roundRect">
            <a:avLst>
              <a:gd name="adj" fmla="val 6000"/>
            </a:avLst>
          </a:prstGeom>
          <a:solidFill>
            <a:srgbClr val="131A2E"/>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01952"/>
            <a:ext cx="4572000" cy="457200"/>
          </a:xfrm>
          <a:prstGeom prst="rect">
            <a:avLst/>
          </a:prstGeom>
          <a:noFill/>
        </p:spPr>
        <p:txBody>
          <a:bodyPr wrap="square">
            <a:spAutoFit/>
          </a:bodyPr>
          <a:lstStyle/>
          <a:p>
            <a:pPr>
              <a:spcAft>
                <a:spcPts val="600"/>
              </a:spcAft>
            </a:pPr>
            <a:r>
              <a:rPr sz="2000" b="1">
                <a:solidFill>
                  <a:srgbClr val="F87171"/>
                </a:solidFill>
              </a:rPr>
              <a:t>The problem</a:t>
            </a:r>
          </a:p>
        </p:txBody>
      </p:sp>
      <p:sp>
        <p:nvSpPr>
          <p:cNvPr id="9" name="TextBox 8"/>
          <p:cNvSpPr txBox="1"/>
          <p:nvPr/>
        </p:nvSpPr>
        <p:spPr>
          <a:xfrm>
            <a:off x="868680" y="2468880"/>
            <a:ext cx="4572000" cy="3383279"/>
          </a:xfrm>
          <a:prstGeom prst="rect">
            <a:avLst/>
          </a:prstGeom>
          <a:noFill/>
        </p:spPr>
        <p:txBody>
          <a:bodyPr wrap="square">
            <a:spAutoFit/>
          </a:bodyPr>
          <a:lstStyle/>
          <a:p>
            <a:pPr>
              <a:spcAft>
                <a:spcPts val="600"/>
              </a:spcAft>
            </a:pPr>
            <a:r>
              <a:rPr sz="2100" b="0">
                <a:solidFill>
                  <a:srgbClr val="E9EDF7"/>
                </a:solidFill>
              </a:rPr>
              <a:t>✕  One party keeps the ledger</a:t>
            </a:r>
          </a:p>
          <a:p>
            <a:pPr>
              <a:spcAft>
                <a:spcPts val="600"/>
              </a:spcAft>
            </a:pPr>
            <a:r>
              <a:rPr sz="2100" b="0">
                <a:solidFill>
                  <a:srgbClr val="E9EDF7"/>
                </a:solidFill>
              </a:rPr>
              <a:t>✕  History can be quietly edited</a:t>
            </a:r>
          </a:p>
          <a:p>
            <a:pPr>
              <a:spcAft>
                <a:spcPts val="600"/>
              </a:spcAft>
            </a:pPr>
            <a:r>
              <a:rPr sz="2100" b="0">
                <a:solidFill>
                  <a:srgbClr val="E9EDF7"/>
                </a:solidFill>
              </a:rPr>
              <a:t>✕  Payments can be forged or replayed</a:t>
            </a:r>
          </a:p>
          <a:p>
            <a:pPr>
              <a:spcAft>
                <a:spcPts val="600"/>
              </a:spcAft>
            </a:pPr>
            <a:r>
              <a:rPr sz="2100" b="0">
                <a:solidFill>
                  <a:srgbClr val="E9EDF7"/>
                </a:solidFill>
              </a:rPr>
              <a:t>✕  The same coin can be spent twice</a:t>
            </a:r>
          </a:p>
          <a:p>
            <a:pPr>
              <a:spcAft>
                <a:spcPts val="600"/>
              </a:spcAft>
            </a:pPr>
            <a:r>
              <a:rPr sz="2100" b="0">
                <a:solidFill>
                  <a:srgbClr val="E9EDF7"/>
                </a:solidFill>
              </a:rPr>
              <a:t>✕  Everyone must trust the operator</a:t>
            </a:r>
          </a:p>
        </p:txBody>
      </p:sp>
      <p:sp>
        <p:nvSpPr>
          <p:cNvPr id="10" name="TextBox 9"/>
          <p:cNvSpPr txBox="1"/>
          <p:nvPr/>
        </p:nvSpPr>
        <p:spPr>
          <a:xfrm>
            <a:off x="5715000" y="3383280"/>
            <a:ext cx="822960" cy="914400"/>
          </a:xfrm>
          <a:prstGeom prst="rect">
            <a:avLst/>
          </a:prstGeom>
          <a:noFill/>
        </p:spPr>
        <p:txBody>
          <a:bodyPr wrap="square">
            <a:spAutoFit/>
          </a:bodyPr>
          <a:lstStyle/>
          <a:p>
            <a:pPr>
              <a:spcAft>
                <a:spcPts val="600"/>
              </a:spcAft>
            </a:pPr>
            <a:r>
              <a:rPr sz="5400" b="1">
                <a:solidFill>
                  <a:srgbClr val="6EA8FE"/>
                </a:solidFill>
              </a:rPr>
              <a:t>→</a:t>
            </a:r>
          </a:p>
        </p:txBody>
      </p:sp>
      <p:sp>
        <p:nvSpPr>
          <p:cNvPr id="11" name="Rounded Rectangle 10"/>
          <p:cNvSpPr/>
          <p:nvPr/>
        </p:nvSpPr>
        <p:spPr>
          <a:xfrm>
            <a:off x="6583680" y="1737360"/>
            <a:ext cx="4937760" cy="4206240"/>
          </a:xfrm>
          <a:prstGeom prst="roundRect">
            <a:avLst>
              <a:gd name="adj" fmla="val 6000"/>
            </a:avLst>
          </a:prstGeom>
          <a:solidFill>
            <a:srgbClr val="131A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2280" y="1901952"/>
            <a:ext cx="4480560" cy="457200"/>
          </a:xfrm>
          <a:prstGeom prst="rect">
            <a:avLst/>
          </a:prstGeom>
          <a:noFill/>
        </p:spPr>
        <p:txBody>
          <a:bodyPr wrap="square">
            <a:spAutoFit/>
          </a:bodyPr>
          <a:lstStyle/>
          <a:p>
            <a:pPr>
              <a:spcAft>
                <a:spcPts val="600"/>
              </a:spcAft>
            </a:pPr>
            <a:r>
              <a:rPr sz="2000" b="1">
                <a:solidFill>
                  <a:srgbClr val="34D399"/>
                </a:solidFill>
              </a:rPr>
              <a:t>Blockchain solution</a:t>
            </a:r>
          </a:p>
        </p:txBody>
      </p:sp>
      <p:sp>
        <p:nvSpPr>
          <p:cNvPr id="13" name="TextBox 12"/>
          <p:cNvSpPr txBox="1"/>
          <p:nvPr/>
        </p:nvSpPr>
        <p:spPr>
          <a:xfrm>
            <a:off x="6812280" y="2468880"/>
            <a:ext cx="4480560" cy="3383279"/>
          </a:xfrm>
          <a:prstGeom prst="rect">
            <a:avLst/>
          </a:prstGeom>
          <a:noFill/>
        </p:spPr>
        <p:txBody>
          <a:bodyPr wrap="square">
            <a:spAutoFit/>
          </a:bodyPr>
          <a:lstStyle/>
          <a:p>
            <a:pPr>
              <a:spcAft>
                <a:spcPts val="600"/>
              </a:spcAft>
            </a:pPr>
            <a:r>
              <a:rPr sz="2100" b="0">
                <a:solidFill>
                  <a:srgbClr val="E9EDF7"/>
                </a:solidFill>
              </a:rPr>
              <a:t>✓  Signed transactions (ECDSA)</a:t>
            </a:r>
          </a:p>
          <a:p>
            <a:pPr>
              <a:spcAft>
                <a:spcPts val="600"/>
              </a:spcAft>
            </a:pPr>
            <a:r>
              <a:rPr sz="2100" b="0">
                <a:solidFill>
                  <a:srgbClr val="E9EDF7"/>
                </a:solidFill>
              </a:rPr>
              <a:t>✓  Hash-linked, tamper-evident blocks</a:t>
            </a:r>
          </a:p>
          <a:p>
            <a:pPr>
              <a:spcAft>
                <a:spcPts val="600"/>
              </a:spcAft>
            </a:pPr>
            <a:r>
              <a:rPr sz="2100" b="0">
                <a:solidFill>
                  <a:srgbClr val="E9EDF7"/>
                </a:solidFill>
              </a:rPr>
              <a:t>✓  Proof-of-work consensus</a:t>
            </a:r>
          </a:p>
          <a:p>
            <a:pPr>
              <a:spcAft>
                <a:spcPts val="600"/>
              </a:spcAft>
            </a:pPr>
            <a:r>
              <a:rPr sz="2100" b="0">
                <a:solidFill>
                  <a:srgbClr val="E9EDF7"/>
                </a:solidFill>
              </a:rPr>
              <a:t>✓  Nonce + balance stop replay and double spend</a:t>
            </a:r>
          </a:p>
          <a:p>
            <a:pPr>
              <a:spcAft>
                <a:spcPts val="600"/>
              </a:spcAft>
            </a:pPr>
            <a:r>
              <a:rPr sz="2100" b="0">
                <a:solidFill>
                  <a:srgbClr val="E9EDF7"/>
                </a:solidFill>
              </a:rPr>
              <a:t>✓  Anyone can verify every coin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EA8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7315200" cy="365760"/>
          </a:xfrm>
          <a:prstGeom prst="rect">
            <a:avLst/>
          </a:prstGeom>
          <a:noFill/>
        </p:spPr>
        <p:txBody>
          <a:bodyPr wrap="square">
            <a:spAutoFit/>
          </a:bodyPr>
          <a:lstStyle/>
          <a:p>
            <a:pPr>
              <a:spcAft>
                <a:spcPts val="600"/>
              </a:spcAft>
            </a:pPr>
            <a:r>
              <a:rPr sz="1300" b="1">
                <a:solidFill>
                  <a:srgbClr val="6EA8FE"/>
                </a:solidFill>
              </a:rPr>
              <a:t>IMPLEMENTATION</a:t>
            </a:r>
          </a:p>
        </p:txBody>
      </p:sp>
      <p:sp>
        <p:nvSpPr>
          <p:cNvPr id="4" name="TextBox 3"/>
          <p:cNvSpPr txBox="1"/>
          <p:nvPr/>
        </p:nvSpPr>
        <p:spPr>
          <a:xfrm>
            <a:off x="640080" y="566928"/>
            <a:ext cx="10972800" cy="914400"/>
          </a:xfrm>
          <a:prstGeom prst="rect">
            <a:avLst/>
          </a:prstGeom>
          <a:noFill/>
        </p:spPr>
        <p:txBody>
          <a:bodyPr wrap="square">
            <a:spAutoFit/>
          </a:bodyPr>
          <a:lstStyle/>
          <a:p>
            <a:pPr>
              <a:spcAft>
                <a:spcPts val="600"/>
              </a:spcAft>
            </a:pPr>
            <a:r>
              <a:rPr sz="3400" b="1">
                <a:solidFill>
                  <a:srgbClr val="E9EDF7"/>
                </a:solidFill>
              </a:rPr>
              <a:t>How MiniChain works</a:t>
            </a:r>
          </a:p>
        </p:txBody>
      </p:sp>
      <p:sp>
        <p:nvSpPr>
          <p:cNvPr id="5" name="TextBox 4"/>
          <p:cNvSpPr txBox="1"/>
          <p:nvPr/>
        </p:nvSpPr>
        <p:spPr>
          <a:xfrm>
            <a:off x="640080" y="6419088"/>
            <a:ext cx="8229600" cy="320040"/>
          </a:xfrm>
          <a:prstGeom prst="rect">
            <a:avLst/>
          </a:prstGeom>
          <a:noFill/>
        </p:spPr>
        <p:txBody>
          <a:bodyPr wrap="square">
            <a:spAutoFit/>
          </a:bodyPr>
          <a:lstStyle/>
          <a:p>
            <a:pPr>
              <a:spcAft>
                <a:spcPts val="600"/>
              </a:spcAft>
            </a:pPr>
            <a:r>
              <a:rPr sz="1100" b="0">
                <a:solidFill>
                  <a:srgbClr val="8592B0"/>
                </a:solidFill>
              </a:rPr>
              <a:t>MiniChain  ·  EC8204  ·  Group 41  ·  EG/2021/4754  ·  EG/2021/4706</a:t>
            </a:r>
          </a:p>
        </p:txBody>
      </p:sp>
      <p:sp>
        <p:nvSpPr>
          <p:cNvPr id="6" name="TextBox 5"/>
          <p:cNvSpPr txBox="1"/>
          <p:nvPr/>
        </p:nvSpPr>
        <p:spPr>
          <a:xfrm>
            <a:off x="10881360" y="6419088"/>
            <a:ext cx="731520" cy="320040"/>
          </a:xfrm>
          <a:prstGeom prst="rect">
            <a:avLst/>
          </a:prstGeom>
          <a:noFill/>
        </p:spPr>
        <p:txBody>
          <a:bodyPr wrap="square">
            <a:spAutoFit/>
          </a:bodyPr>
          <a:lstStyle/>
          <a:p>
            <a:pPr>
              <a:spcAft>
                <a:spcPts val="600"/>
              </a:spcAft>
            </a:pPr>
            <a:r>
              <a:rPr sz="1100" b="0">
                <a:solidFill>
                  <a:srgbClr val="8592B0"/>
                </a:solidFill>
              </a:rPr>
              <a:t>3 / 6</a:t>
            </a:r>
          </a:p>
        </p:txBody>
      </p:sp>
      <p:sp>
        <p:nvSpPr>
          <p:cNvPr id="7" name="Rounded Rectangle 6"/>
          <p:cNvSpPr/>
          <p:nvPr/>
        </p:nvSpPr>
        <p:spPr>
          <a:xfrm>
            <a:off x="502920" y="1737360"/>
            <a:ext cx="2148840" cy="3017520"/>
          </a:xfrm>
          <a:prstGeom prst="roundRect">
            <a:avLst>
              <a:gd name="adj" fmla="val 6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01952"/>
            <a:ext cx="1691640" cy="457200"/>
          </a:xfrm>
          <a:prstGeom prst="rect">
            <a:avLst/>
          </a:prstGeom>
          <a:noFill/>
        </p:spPr>
        <p:txBody>
          <a:bodyPr wrap="square">
            <a:spAutoFit/>
          </a:bodyPr>
          <a:lstStyle/>
          <a:p>
            <a:pPr>
              <a:spcAft>
                <a:spcPts val="600"/>
              </a:spcAft>
            </a:pPr>
            <a:r>
              <a:rPr sz="2000" b="1">
                <a:solidFill>
                  <a:srgbClr val="6EA8FE"/>
                </a:solidFill>
              </a:rPr>
              <a:t>1  Wallet</a:t>
            </a:r>
          </a:p>
        </p:txBody>
      </p:sp>
      <p:sp>
        <p:nvSpPr>
          <p:cNvPr id="9" name="TextBox 8"/>
          <p:cNvSpPr txBox="1"/>
          <p:nvPr/>
        </p:nvSpPr>
        <p:spPr>
          <a:xfrm>
            <a:off x="731520" y="2468880"/>
            <a:ext cx="1691640" cy="2194560"/>
          </a:xfrm>
          <a:prstGeom prst="rect">
            <a:avLst/>
          </a:prstGeom>
          <a:noFill/>
        </p:spPr>
        <p:txBody>
          <a:bodyPr wrap="square">
            <a:spAutoFit/>
          </a:bodyPr>
          <a:lstStyle/>
          <a:p>
            <a:pPr>
              <a:spcAft>
                <a:spcPts val="600"/>
              </a:spcAft>
            </a:pPr>
            <a:r>
              <a:rPr sz="1600" b="0">
                <a:solidFill>
                  <a:srgbClr val="E9EDF7"/>
                </a:solidFill>
              </a:rPr>
              <a:t>secp256k1 key pair</a:t>
            </a:r>
          </a:p>
          <a:p>
            <a:pPr>
              <a:spcAft>
                <a:spcPts val="600"/>
              </a:spcAft>
            </a:pPr>
            <a:r>
              <a:rPr sz="1600" b="0">
                <a:solidFill>
                  <a:srgbClr val="E9EDF7"/>
                </a:solidFill>
              </a:rPr>
              <a:t>address = hash of public key</a:t>
            </a:r>
          </a:p>
        </p:txBody>
      </p:sp>
      <p:sp>
        <p:nvSpPr>
          <p:cNvPr id="10" name="TextBox 9"/>
          <p:cNvSpPr txBox="1"/>
          <p:nvPr/>
        </p:nvSpPr>
        <p:spPr>
          <a:xfrm>
            <a:off x="2615184" y="2926080"/>
            <a:ext cx="274320" cy="548640"/>
          </a:xfrm>
          <a:prstGeom prst="rect">
            <a:avLst/>
          </a:prstGeom>
          <a:noFill/>
        </p:spPr>
        <p:txBody>
          <a:bodyPr wrap="square">
            <a:spAutoFit/>
          </a:bodyPr>
          <a:lstStyle/>
          <a:p>
            <a:pPr>
              <a:spcAft>
                <a:spcPts val="600"/>
              </a:spcAft>
            </a:pPr>
            <a:r>
              <a:rPr sz="3000" b="1">
                <a:solidFill>
                  <a:srgbClr val="A78BFA"/>
                </a:solidFill>
              </a:rPr>
              <a:t>›</a:t>
            </a:r>
          </a:p>
        </p:txBody>
      </p:sp>
      <p:sp>
        <p:nvSpPr>
          <p:cNvPr id="11" name="Rounded Rectangle 10"/>
          <p:cNvSpPr/>
          <p:nvPr/>
        </p:nvSpPr>
        <p:spPr>
          <a:xfrm>
            <a:off x="2788920" y="1737360"/>
            <a:ext cx="2148840" cy="3017520"/>
          </a:xfrm>
          <a:prstGeom prst="roundRect">
            <a:avLst>
              <a:gd name="adj" fmla="val 6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1901952"/>
            <a:ext cx="1691640" cy="457200"/>
          </a:xfrm>
          <a:prstGeom prst="rect">
            <a:avLst/>
          </a:prstGeom>
          <a:noFill/>
        </p:spPr>
        <p:txBody>
          <a:bodyPr wrap="square">
            <a:spAutoFit/>
          </a:bodyPr>
          <a:lstStyle/>
          <a:p>
            <a:pPr>
              <a:spcAft>
                <a:spcPts val="600"/>
              </a:spcAft>
            </a:pPr>
            <a:r>
              <a:rPr sz="2000" b="1">
                <a:solidFill>
                  <a:srgbClr val="6EA8FE"/>
                </a:solidFill>
              </a:rPr>
              <a:t>2  Sign</a:t>
            </a:r>
          </a:p>
        </p:txBody>
      </p:sp>
      <p:sp>
        <p:nvSpPr>
          <p:cNvPr id="13" name="TextBox 12"/>
          <p:cNvSpPr txBox="1"/>
          <p:nvPr/>
        </p:nvSpPr>
        <p:spPr>
          <a:xfrm>
            <a:off x="3017520" y="2468880"/>
            <a:ext cx="1691640" cy="2194560"/>
          </a:xfrm>
          <a:prstGeom prst="rect">
            <a:avLst/>
          </a:prstGeom>
          <a:noFill/>
        </p:spPr>
        <p:txBody>
          <a:bodyPr wrap="square">
            <a:spAutoFit/>
          </a:bodyPr>
          <a:lstStyle/>
          <a:p>
            <a:pPr>
              <a:spcAft>
                <a:spcPts val="600"/>
              </a:spcAft>
            </a:pPr>
            <a:r>
              <a:rPr sz="1600" b="0">
                <a:solidFill>
                  <a:srgbClr val="E9EDF7"/>
                </a:solidFill>
              </a:rPr>
              <a:t>ECDSA signature</a:t>
            </a:r>
          </a:p>
          <a:p>
            <a:pPr>
              <a:spcAft>
                <a:spcPts val="600"/>
              </a:spcAft>
            </a:pPr>
            <a:r>
              <a:rPr sz="1600" b="0">
                <a:solidFill>
                  <a:srgbClr val="E9EDF7"/>
                </a:solidFill>
              </a:rPr>
              <a:t>nonce (anti-replay) + fee</a:t>
            </a:r>
          </a:p>
        </p:txBody>
      </p:sp>
      <p:sp>
        <p:nvSpPr>
          <p:cNvPr id="14" name="TextBox 13"/>
          <p:cNvSpPr txBox="1"/>
          <p:nvPr/>
        </p:nvSpPr>
        <p:spPr>
          <a:xfrm>
            <a:off x="4901183" y="2926080"/>
            <a:ext cx="274320" cy="548640"/>
          </a:xfrm>
          <a:prstGeom prst="rect">
            <a:avLst/>
          </a:prstGeom>
          <a:noFill/>
        </p:spPr>
        <p:txBody>
          <a:bodyPr wrap="square">
            <a:spAutoFit/>
          </a:bodyPr>
          <a:lstStyle/>
          <a:p>
            <a:pPr>
              <a:spcAft>
                <a:spcPts val="600"/>
              </a:spcAft>
            </a:pPr>
            <a:r>
              <a:rPr sz="3000" b="1">
                <a:solidFill>
                  <a:srgbClr val="A78BFA"/>
                </a:solidFill>
              </a:rPr>
              <a:t>›</a:t>
            </a:r>
          </a:p>
        </p:txBody>
      </p:sp>
      <p:sp>
        <p:nvSpPr>
          <p:cNvPr id="15" name="Rounded Rectangle 14"/>
          <p:cNvSpPr/>
          <p:nvPr/>
        </p:nvSpPr>
        <p:spPr>
          <a:xfrm>
            <a:off x="5074920" y="1737360"/>
            <a:ext cx="2148840" cy="3017520"/>
          </a:xfrm>
          <a:prstGeom prst="roundRect">
            <a:avLst>
              <a:gd name="adj" fmla="val 6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1901952"/>
            <a:ext cx="1691640" cy="457200"/>
          </a:xfrm>
          <a:prstGeom prst="rect">
            <a:avLst/>
          </a:prstGeom>
          <a:noFill/>
        </p:spPr>
        <p:txBody>
          <a:bodyPr wrap="square">
            <a:spAutoFit/>
          </a:bodyPr>
          <a:lstStyle/>
          <a:p>
            <a:pPr>
              <a:spcAft>
                <a:spcPts val="600"/>
              </a:spcAft>
            </a:pPr>
            <a:r>
              <a:rPr sz="2000" b="1">
                <a:solidFill>
                  <a:srgbClr val="6EA8FE"/>
                </a:solidFill>
              </a:rPr>
              <a:t>3  Validate</a:t>
            </a:r>
          </a:p>
        </p:txBody>
      </p:sp>
      <p:sp>
        <p:nvSpPr>
          <p:cNvPr id="17" name="TextBox 16"/>
          <p:cNvSpPr txBox="1"/>
          <p:nvPr/>
        </p:nvSpPr>
        <p:spPr>
          <a:xfrm>
            <a:off x="5303520" y="2468880"/>
            <a:ext cx="1691640" cy="2194560"/>
          </a:xfrm>
          <a:prstGeom prst="rect">
            <a:avLst/>
          </a:prstGeom>
          <a:noFill/>
        </p:spPr>
        <p:txBody>
          <a:bodyPr wrap="square">
            <a:spAutoFit/>
          </a:bodyPr>
          <a:lstStyle/>
          <a:p>
            <a:pPr>
              <a:spcAft>
                <a:spcPts val="600"/>
              </a:spcAft>
            </a:pPr>
            <a:r>
              <a:rPr sz="1600" b="0">
                <a:solidFill>
                  <a:srgbClr val="E9EDF7"/>
                </a:solidFill>
              </a:rPr>
              <a:t>signature ✓</a:t>
            </a:r>
          </a:p>
          <a:p>
            <a:pPr>
              <a:spcAft>
                <a:spcPts val="600"/>
              </a:spcAft>
            </a:pPr>
            <a:r>
              <a:rPr sz="1600" b="0">
                <a:solidFill>
                  <a:srgbClr val="E9EDF7"/>
                </a:solidFill>
              </a:rPr>
              <a:t>balance ✓   nonce ✓</a:t>
            </a:r>
          </a:p>
        </p:txBody>
      </p:sp>
      <p:sp>
        <p:nvSpPr>
          <p:cNvPr id="18" name="TextBox 17"/>
          <p:cNvSpPr txBox="1"/>
          <p:nvPr/>
        </p:nvSpPr>
        <p:spPr>
          <a:xfrm>
            <a:off x="7187183" y="2926080"/>
            <a:ext cx="274320" cy="548640"/>
          </a:xfrm>
          <a:prstGeom prst="rect">
            <a:avLst/>
          </a:prstGeom>
          <a:noFill/>
        </p:spPr>
        <p:txBody>
          <a:bodyPr wrap="square">
            <a:spAutoFit/>
          </a:bodyPr>
          <a:lstStyle/>
          <a:p>
            <a:pPr>
              <a:spcAft>
                <a:spcPts val="600"/>
              </a:spcAft>
            </a:pPr>
            <a:r>
              <a:rPr sz="3000" b="1">
                <a:solidFill>
                  <a:srgbClr val="A78BFA"/>
                </a:solidFill>
              </a:rPr>
              <a:t>›</a:t>
            </a:r>
          </a:p>
        </p:txBody>
      </p:sp>
      <p:sp>
        <p:nvSpPr>
          <p:cNvPr id="19" name="Rounded Rectangle 18"/>
          <p:cNvSpPr/>
          <p:nvPr/>
        </p:nvSpPr>
        <p:spPr>
          <a:xfrm>
            <a:off x="7360920" y="1737360"/>
            <a:ext cx="2148840" cy="3017520"/>
          </a:xfrm>
          <a:prstGeom prst="roundRect">
            <a:avLst>
              <a:gd name="adj" fmla="val 6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1901952"/>
            <a:ext cx="1691640" cy="457200"/>
          </a:xfrm>
          <a:prstGeom prst="rect">
            <a:avLst/>
          </a:prstGeom>
          <a:noFill/>
        </p:spPr>
        <p:txBody>
          <a:bodyPr wrap="square">
            <a:spAutoFit/>
          </a:bodyPr>
          <a:lstStyle/>
          <a:p>
            <a:pPr>
              <a:spcAft>
                <a:spcPts val="600"/>
              </a:spcAft>
            </a:pPr>
            <a:r>
              <a:rPr sz="2000" b="1">
                <a:solidFill>
                  <a:srgbClr val="6EA8FE"/>
                </a:solidFill>
              </a:rPr>
              <a:t>4  Mine</a:t>
            </a:r>
          </a:p>
        </p:txBody>
      </p:sp>
      <p:sp>
        <p:nvSpPr>
          <p:cNvPr id="21" name="TextBox 20"/>
          <p:cNvSpPr txBox="1"/>
          <p:nvPr/>
        </p:nvSpPr>
        <p:spPr>
          <a:xfrm>
            <a:off x="7589520" y="2468880"/>
            <a:ext cx="1691640" cy="2194560"/>
          </a:xfrm>
          <a:prstGeom prst="rect">
            <a:avLst/>
          </a:prstGeom>
          <a:noFill/>
        </p:spPr>
        <p:txBody>
          <a:bodyPr wrap="square">
            <a:spAutoFit/>
          </a:bodyPr>
          <a:lstStyle/>
          <a:p>
            <a:pPr>
              <a:spcAft>
                <a:spcPts val="600"/>
              </a:spcAft>
            </a:pPr>
            <a:r>
              <a:rPr sz="1600" b="0">
                <a:solidFill>
                  <a:srgbClr val="E9EDF7"/>
                </a:solidFill>
              </a:rPr>
              <a:t>Merkle root of payments</a:t>
            </a:r>
          </a:p>
          <a:p>
            <a:pPr>
              <a:spcAft>
                <a:spcPts val="600"/>
              </a:spcAft>
            </a:pPr>
            <a:r>
              <a:rPr sz="1600" b="0">
                <a:solidFill>
                  <a:srgbClr val="E9EDF7"/>
                </a:solidFill>
              </a:rPr>
              <a:t>proof-of-work</a:t>
            </a:r>
          </a:p>
          <a:p>
            <a:pPr>
              <a:spcAft>
                <a:spcPts val="600"/>
              </a:spcAft>
            </a:pPr>
            <a:r>
              <a:rPr sz="1600" b="0">
                <a:solidFill>
                  <a:srgbClr val="E9EDF7"/>
                </a:solidFill>
              </a:rPr>
              <a:t>reward + fees to miner</a:t>
            </a:r>
          </a:p>
        </p:txBody>
      </p:sp>
      <p:sp>
        <p:nvSpPr>
          <p:cNvPr id="22" name="TextBox 21"/>
          <p:cNvSpPr txBox="1"/>
          <p:nvPr/>
        </p:nvSpPr>
        <p:spPr>
          <a:xfrm>
            <a:off x="9473184" y="2926080"/>
            <a:ext cx="274320" cy="548640"/>
          </a:xfrm>
          <a:prstGeom prst="rect">
            <a:avLst/>
          </a:prstGeom>
          <a:noFill/>
        </p:spPr>
        <p:txBody>
          <a:bodyPr wrap="square">
            <a:spAutoFit/>
          </a:bodyPr>
          <a:lstStyle/>
          <a:p>
            <a:pPr>
              <a:spcAft>
                <a:spcPts val="600"/>
              </a:spcAft>
            </a:pPr>
            <a:r>
              <a:rPr sz="3000" b="1">
                <a:solidFill>
                  <a:srgbClr val="A78BFA"/>
                </a:solidFill>
              </a:rPr>
              <a:t>›</a:t>
            </a:r>
          </a:p>
        </p:txBody>
      </p:sp>
      <p:sp>
        <p:nvSpPr>
          <p:cNvPr id="23" name="Rounded Rectangle 22"/>
          <p:cNvSpPr/>
          <p:nvPr/>
        </p:nvSpPr>
        <p:spPr>
          <a:xfrm>
            <a:off x="9646920" y="1737360"/>
            <a:ext cx="2148840" cy="3017520"/>
          </a:xfrm>
          <a:prstGeom prst="roundRect">
            <a:avLst>
              <a:gd name="adj" fmla="val 6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20" y="1901952"/>
            <a:ext cx="1691640" cy="457200"/>
          </a:xfrm>
          <a:prstGeom prst="rect">
            <a:avLst/>
          </a:prstGeom>
          <a:noFill/>
        </p:spPr>
        <p:txBody>
          <a:bodyPr wrap="square">
            <a:spAutoFit/>
          </a:bodyPr>
          <a:lstStyle/>
          <a:p>
            <a:pPr>
              <a:spcAft>
                <a:spcPts val="600"/>
              </a:spcAft>
            </a:pPr>
            <a:r>
              <a:rPr sz="2000" b="1">
                <a:solidFill>
                  <a:srgbClr val="6EA8FE"/>
                </a:solidFill>
              </a:rPr>
              <a:t>5  Chain</a:t>
            </a:r>
          </a:p>
        </p:txBody>
      </p:sp>
      <p:sp>
        <p:nvSpPr>
          <p:cNvPr id="25" name="TextBox 24"/>
          <p:cNvSpPr txBox="1"/>
          <p:nvPr/>
        </p:nvSpPr>
        <p:spPr>
          <a:xfrm>
            <a:off x="9875520" y="2468880"/>
            <a:ext cx="1691640" cy="2194560"/>
          </a:xfrm>
          <a:prstGeom prst="rect">
            <a:avLst/>
          </a:prstGeom>
          <a:noFill/>
        </p:spPr>
        <p:txBody>
          <a:bodyPr wrap="square">
            <a:spAutoFit/>
          </a:bodyPr>
          <a:lstStyle/>
          <a:p>
            <a:pPr>
              <a:spcAft>
                <a:spcPts val="600"/>
              </a:spcAft>
            </a:pPr>
            <a:r>
              <a:rPr sz="1600" b="0">
                <a:solidFill>
                  <a:srgbClr val="E9EDF7"/>
                </a:solidFill>
              </a:rPr>
              <a:t>hash links to previous block</a:t>
            </a:r>
          </a:p>
          <a:p>
            <a:pPr>
              <a:spcAft>
                <a:spcPts val="600"/>
              </a:spcAft>
            </a:pPr>
            <a:r>
              <a:rPr sz="1600" b="0">
                <a:solidFill>
                  <a:srgbClr val="E9EDF7"/>
                </a:solidFill>
              </a:rPr>
              <a:t>most cumulative work wins</a:t>
            </a:r>
          </a:p>
        </p:txBody>
      </p:sp>
      <p:sp>
        <p:nvSpPr>
          <p:cNvPr id="26" name="Rounded Rectangle 25"/>
          <p:cNvSpPr/>
          <p:nvPr/>
        </p:nvSpPr>
        <p:spPr>
          <a:xfrm>
            <a:off x="640080" y="5074920"/>
            <a:ext cx="10881360" cy="1005840"/>
          </a:xfrm>
          <a:prstGeom prst="roundRect">
            <a:avLst>
              <a:gd name="adj" fmla="val 15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230368"/>
            <a:ext cx="10424160" cy="822960"/>
          </a:xfrm>
          <a:prstGeom prst="rect">
            <a:avLst/>
          </a:prstGeom>
          <a:noFill/>
        </p:spPr>
        <p:txBody>
          <a:bodyPr wrap="square">
            <a:spAutoFit/>
          </a:bodyPr>
          <a:lstStyle/>
          <a:p>
            <a:pPr>
              <a:spcAft>
                <a:spcPts val="600"/>
              </a:spcAft>
            </a:pPr>
            <a:r>
              <a:rPr sz="1800" b="0">
                <a:solidFill>
                  <a:srgbClr val="8592B0"/>
                </a:solidFill>
              </a:rPr>
              <a:t>Built from scratch in Node.js · zero dependencies · fees &amp; mining reward · 3-node peer-to-peer network with fork resolution · live web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8127796" cy="82296"/>
          </a:xfrm>
          <a:prstGeom prst="rect">
            <a:avLst/>
          </a:prstGeom>
          <a:solidFill>
            <a:srgbClr val="6EA8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7315200" cy="365760"/>
          </a:xfrm>
          <a:prstGeom prst="rect">
            <a:avLst/>
          </a:prstGeom>
          <a:noFill/>
        </p:spPr>
        <p:txBody>
          <a:bodyPr wrap="square">
            <a:spAutoFit/>
          </a:bodyPr>
          <a:lstStyle/>
          <a:p>
            <a:pPr>
              <a:spcAft>
                <a:spcPts val="600"/>
              </a:spcAft>
            </a:pPr>
            <a:r>
              <a:rPr sz="1300" b="1">
                <a:solidFill>
                  <a:srgbClr val="6EA8FE"/>
                </a:solidFill>
              </a:rPr>
              <a:t>DEMO</a:t>
            </a:r>
          </a:p>
        </p:txBody>
      </p:sp>
      <p:sp>
        <p:nvSpPr>
          <p:cNvPr id="4" name="TextBox 3"/>
          <p:cNvSpPr txBox="1"/>
          <p:nvPr/>
        </p:nvSpPr>
        <p:spPr>
          <a:xfrm>
            <a:off x="640080" y="566928"/>
            <a:ext cx="10972800" cy="914400"/>
          </a:xfrm>
          <a:prstGeom prst="rect">
            <a:avLst/>
          </a:prstGeom>
          <a:noFill/>
        </p:spPr>
        <p:txBody>
          <a:bodyPr wrap="square">
            <a:spAutoFit/>
          </a:bodyPr>
          <a:lstStyle/>
          <a:p>
            <a:pPr>
              <a:spcAft>
                <a:spcPts val="600"/>
              </a:spcAft>
            </a:pPr>
            <a:r>
              <a:rPr sz="3400" b="1">
                <a:solidFill>
                  <a:srgbClr val="E9EDF7"/>
                </a:solidFill>
              </a:rPr>
              <a:t>Live demo: send, mine, tamper</a:t>
            </a:r>
          </a:p>
        </p:txBody>
      </p:sp>
      <p:sp>
        <p:nvSpPr>
          <p:cNvPr id="5" name="TextBox 4"/>
          <p:cNvSpPr txBox="1"/>
          <p:nvPr/>
        </p:nvSpPr>
        <p:spPr>
          <a:xfrm>
            <a:off x="640080" y="6419088"/>
            <a:ext cx="8229600" cy="320040"/>
          </a:xfrm>
          <a:prstGeom prst="rect">
            <a:avLst/>
          </a:prstGeom>
          <a:noFill/>
        </p:spPr>
        <p:txBody>
          <a:bodyPr wrap="square">
            <a:spAutoFit/>
          </a:bodyPr>
          <a:lstStyle/>
          <a:p>
            <a:pPr>
              <a:spcAft>
                <a:spcPts val="600"/>
              </a:spcAft>
            </a:pPr>
            <a:r>
              <a:rPr sz="1100" b="0">
                <a:solidFill>
                  <a:srgbClr val="8592B0"/>
                </a:solidFill>
              </a:rPr>
              <a:t>MiniChain  ·  EC8204  ·  Group 41  ·  EG/2021/4754  ·  EG/2021/4706</a:t>
            </a:r>
          </a:p>
        </p:txBody>
      </p:sp>
      <p:sp>
        <p:nvSpPr>
          <p:cNvPr id="6" name="TextBox 5"/>
          <p:cNvSpPr txBox="1"/>
          <p:nvPr/>
        </p:nvSpPr>
        <p:spPr>
          <a:xfrm>
            <a:off x="10881360" y="6419088"/>
            <a:ext cx="731520" cy="320040"/>
          </a:xfrm>
          <a:prstGeom prst="rect">
            <a:avLst/>
          </a:prstGeom>
          <a:noFill/>
        </p:spPr>
        <p:txBody>
          <a:bodyPr wrap="square">
            <a:spAutoFit/>
          </a:bodyPr>
          <a:lstStyle/>
          <a:p>
            <a:pPr>
              <a:spcAft>
                <a:spcPts val="600"/>
              </a:spcAft>
            </a:pPr>
            <a:r>
              <a:rPr sz="1100" b="0">
                <a:solidFill>
                  <a:srgbClr val="8592B0"/>
                </a:solidFill>
              </a:rPr>
              <a:t>4 / 6</a:t>
            </a:r>
          </a:p>
        </p:txBody>
      </p:sp>
      <p:pic>
        <p:nvPicPr>
          <p:cNvPr id="7" name="Picture 6" descr="dashboard_valid.png"/>
          <p:cNvPicPr>
            <a:picLocks noChangeAspect="1"/>
          </p:cNvPicPr>
          <p:nvPr/>
        </p:nvPicPr>
        <p:blipFill>
          <a:blip r:embed="rId3"/>
          <a:stretch>
            <a:fillRect/>
          </a:stretch>
        </p:blipFill>
        <p:spPr>
          <a:xfrm>
            <a:off x="640080" y="1554480"/>
            <a:ext cx="5257800" cy="4419838"/>
          </a:xfrm>
          <a:prstGeom prst="rect">
            <a:avLst/>
          </a:prstGeom>
        </p:spPr>
      </p:pic>
      <p:sp>
        <p:nvSpPr>
          <p:cNvPr id="8" name="TextBox 7"/>
          <p:cNvSpPr txBox="1"/>
          <p:nvPr/>
        </p:nvSpPr>
        <p:spPr>
          <a:xfrm>
            <a:off x="640080" y="5943600"/>
            <a:ext cx="5257800" cy="365760"/>
          </a:xfrm>
          <a:prstGeom prst="rect">
            <a:avLst/>
          </a:prstGeom>
          <a:noFill/>
        </p:spPr>
        <p:txBody>
          <a:bodyPr wrap="square">
            <a:spAutoFit/>
          </a:bodyPr>
          <a:lstStyle/>
          <a:p>
            <a:pPr>
              <a:spcAft>
                <a:spcPts val="600"/>
              </a:spcAft>
            </a:pPr>
            <a:r>
              <a:rPr sz="1500" b="1">
                <a:solidFill>
                  <a:srgbClr val="34D399"/>
                </a:solidFill>
              </a:rPr>
              <a:t>Signed payments mined into block #2: chain valid</a:t>
            </a:r>
          </a:p>
        </p:txBody>
      </p:sp>
      <p:pic>
        <p:nvPicPr>
          <p:cNvPr id="9" name="Picture 8" descr="dashboard_tampered.png"/>
          <p:cNvPicPr>
            <a:picLocks noChangeAspect="1"/>
          </p:cNvPicPr>
          <p:nvPr/>
        </p:nvPicPr>
        <p:blipFill>
          <a:blip r:embed="rId4"/>
          <a:stretch>
            <a:fillRect/>
          </a:stretch>
        </p:blipFill>
        <p:spPr>
          <a:xfrm>
            <a:off x="6263640" y="1554480"/>
            <a:ext cx="5257800" cy="4419838"/>
          </a:xfrm>
          <a:prstGeom prst="rect">
            <a:avLst/>
          </a:prstGeom>
        </p:spPr>
      </p:pic>
      <p:sp>
        <p:nvSpPr>
          <p:cNvPr id="10" name="TextBox 9"/>
          <p:cNvSpPr txBox="1"/>
          <p:nvPr/>
        </p:nvSpPr>
        <p:spPr>
          <a:xfrm>
            <a:off x="6263640" y="5943600"/>
            <a:ext cx="5257800" cy="365760"/>
          </a:xfrm>
          <a:prstGeom prst="rect">
            <a:avLst/>
          </a:prstGeom>
          <a:noFill/>
        </p:spPr>
        <p:txBody>
          <a:bodyPr wrap="square">
            <a:spAutoFit/>
          </a:bodyPr>
          <a:lstStyle/>
          <a:p>
            <a:pPr>
              <a:spcAft>
                <a:spcPts val="600"/>
              </a:spcAft>
            </a:pPr>
            <a:r>
              <a:rPr sz="1500" b="1">
                <a:solidFill>
                  <a:srgbClr val="F87171"/>
                </a:solidFill>
              </a:rPr>
              <a:t>Block #2 edited: chain invalid at block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0159746" cy="82296"/>
          </a:xfrm>
          <a:prstGeom prst="rect">
            <a:avLst/>
          </a:prstGeom>
          <a:solidFill>
            <a:srgbClr val="6EA8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7315200" cy="365760"/>
          </a:xfrm>
          <a:prstGeom prst="rect">
            <a:avLst/>
          </a:prstGeom>
          <a:noFill/>
        </p:spPr>
        <p:txBody>
          <a:bodyPr wrap="square">
            <a:spAutoFit/>
          </a:bodyPr>
          <a:lstStyle/>
          <a:p>
            <a:pPr>
              <a:spcAft>
                <a:spcPts val="600"/>
              </a:spcAft>
            </a:pPr>
            <a:r>
              <a:rPr sz="1300" b="1">
                <a:solidFill>
                  <a:srgbClr val="6EA8FE"/>
                </a:solidFill>
              </a:rPr>
              <a:t>RESULTS</a:t>
            </a:r>
          </a:p>
        </p:txBody>
      </p:sp>
      <p:sp>
        <p:nvSpPr>
          <p:cNvPr id="4" name="TextBox 3"/>
          <p:cNvSpPr txBox="1"/>
          <p:nvPr/>
        </p:nvSpPr>
        <p:spPr>
          <a:xfrm>
            <a:off x="640080" y="566928"/>
            <a:ext cx="10972800" cy="914400"/>
          </a:xfrm>
          <a:prstGeom prst="rect">
            <a:avLst/>
          </a:prstGeom>
          <a:noFill/>
        </p:spPr>
        <p:txBody>
          <a:bodyPr wrap="square">
            <a:spAutoFit/>
          </a:bodyPr>
          <a:lstStyle/>
          <a:p>
            <a:pPr>
              <a:spcAft>
                <a:spcPts val="600"/>
              </a:spcAft>
            </a:pPr>
            <a:r>
              <a:rPr sz="3400" b="1">
                <a:solidFill>
                  <a:srgbClr val="E9EDF7"/>
                </a:solidFill>
              </a:rPr>
              <a:t>Attack lab: results and mitigation</a:t>
            </a:r>
          </a:p>
        </p:txBody>
      </p:sp>
      <p:sp>
        <p:nvSpPr>
          <p:cNvPr id="5" name="TextBox 4"/>
          <p:cNvSpPr txBox="1"/>
          <p:nvPr/>
        </p:nvSpPr>
        <p:spPr>
          <a:xfrm>
            <a:off x="640080" y="6419088"/>
            <a:ext cx="8229600" cy="320040"/>
          </a:xfrm>
          <a:prstGeom prst="rect">
            <a:avLst/>
          </a:prstGeom>
          <a:noFill/>
        </p:spPr>
        <p:txBody>
          <a:bodyPr wrap="square">
            <a:spAutoFit/>
          </a:bodyPr>
          <a:lstStyle/>
          <a:p>
            <a:pPr>
              <a:spcAft>
                <a:spcPts val="600"/>
              </a:spcAft>
            </a:pPr>
            <a:r>
              <a:rPr sz="1100" b="0">
                <a:solidFill>
                  <a:srgbClr val="8592B0"/>
                </a:solidFill>
              </a:rPr>
              <a:t>MiniChain  ·  EC8204  ·  Group 41  ·  EG/2021/4754  ·  EG/2021/4706</a:t>
            </a:r>
          </a:p>
        </p:txBody>
      </p:sp>
      <p:sp>
        <p:nvSpPr>
          <p:cNvPr id="6" name="TextBox 5"/>
          <p:cNvSpPr txBox="1"/>
          <p:nvPr/>
        </p:nvSpPr>
        <p:spPr>
          <a:xfrm>
            <a:off x="10881360" y="6419088"/>
            <a:ext cx="731520" cy="320040"/>
          </a:xfrm>
          <a:prstGeom prst="rect">
            <a:avLst/>
          </a:prstGeom>
          <a:noFill/>
        </p:spPr>
        <p:txBody>
          <a:bodyPr wrap="square">
            <a:spAutoFit/>
          </a:bodyPr>
          <a:lstStyle/>
          <a:p>
            <a:pPr>
              <a:spcAft>
                <a:spcPts val="600"/>
              </a:spcAft>
            </a:pPr>
            <a:r>
              <a:rPr sz="1100" b="0">
                <a:solidFill>
                  <a:srgbClr val="8592B0"/>
                </a:solidFill>
              </a:rPr>
              <a:t>5 / 6</a:t>
            </a:r>
          </a:p>
        </p:txBody>
      </p:sp>
      <p:sp>
        <p:nvSpPr>
          <p:cNvPr id="7" name="TextBox 6"/>
          <p:cNvSpPr txBox="1"/>
          <p:nvPr/>
        </p:nvSpPr>
        <p:spPr>
          <a:xfrm>
            <a:off x="640080" y="1463040"/>
            <a:ext cx="3566160" cy="457200"/>
          </a:xfrm>
          <a:prstGeom prst="rect">
            <a:avLst/>
          </a:prstGeom>
          <a:noFill/>
        </p:spPr>
        <p:txBody>
          <a:bodyPr wrap="square">
            <a:spAutoFit/>
          </a:bodyPr>
          <a:lstStyle/>
          <a:p>
            <a:pPr>
              <a:spcAft>
                <a:spcPts val="600"/>
              </a:spcAft>
            </a:pPr>
            <a:r>
              <a:rPr sz="1800" b="1">
                <a:solidFill>
                  <a:srgbClr val="E9EDF7"/>
                </a:solidFill>
              </a:rPr>
              <a:t>Forged sender</a:t>
            </a:r>
          </a:p>
        </p:txBody>
      </p:sp>
      <p:sp>
        <p:nvSpPr>
          <p:cNvPr id="8" name="TextBox 7"/>
          <p:cNvSpPr txBox="1"/>
          <p:nvPr/>
        </p:nvSpPr>
        <p:spPr>
          <a:xfrm>
            <a:off x="4206240" y="1463040"/>
            <a:ext cx="2651760" cy="457200"/>
          </a:xfrm>
          <a:prstGeom prst="rect">
            <a:avLst/>
          </a:prstGeom>
          <a:noFill/>
        </p:spPr>
        <p:txBody>
          <a:bodyPr wrap="square">
            <a:spAutoFit/>
          </a:bodyPr>
          <a:lstStyle/>
          <a:p>
            <a:pPr>
              <a:spcAft>
                <a:spcPts val="600"/>
              </a:spcAft>
            </a:pPr>
            <a:r>
              <a:rPr sz="1800" b="1">
                <a:solidFill>
                  <a:srgbClr val="34D399"/>
                </a:solidFill>
              </a:rPr>
              <a:t>Rejected</a:t>
            </a:r>
          </a:p>
        </p:txBody>
      </p:sp>
      <p:sp>
        <p:nvSpPr>
          <p:cNvPr id="9" name="TextBox 8"/>
          <p:cNvSpPr txBox="1"/>
          <p:nvPr/>
        </p:nvSpPr>
        <p:spPr>
          <a:xfrm>
            <a:off x="6766560" y="1463040"/>
            <a:ext cx="4846320" cy="457200"/>
          </a:xfrm>
          <a:prstGeom prst="rect">
            <a:avLst/>
          </a:prstGeom>
          <a:noFill/>
        </p:spPr>
        <p:txBody>
          <a:bodyPr wrap="square">
            <a:spAutoFit/>
          </a:bodyPr>
          <a:lstStyle/>
          <a:p>
            <a:pPr>
              <a:spcAft>
                <a:spcPts val="600"/>
              </a:spcAft>
            </a:pPr>
            <a:r>
              <a:rPr sz="1600" b="0">
                <a:solidFill>
                  <a:srgbClr val="8592B0"/>
                </a:solidFill>
              </a:rPr>
              <a:t>key must hash to the sender address</a:t>
            </a:r>
          </a:p>
        </p:txBody>
      </p:sp>
      <p:sp>
        <p:nvSpPr>
          <p:cNvPr id="10" name="TextBox 9"/>
          <p:cNvSpPr txBox="1"/>
          <p:nvPr/>
        </p:nvSpPr>
        <p:spPr>
          <a:xfrm>
            <a:off x="640080" y="1938528"/>
            <a:ext cx="3566160" cy="457200"/>
          </a:xfrm>
          <a:prstGeom prst="rect">
            <a:avLst/>
          </a:prstGeom>
          <a:noFill/>
        </p:spPr>
        <p:txBody>
          <a:bodyPr wrap="square">
            <a:spAutoFit/>
          </a:bodyPr>
          <a:lstStyle/>
          <a:p>
            <a:pPr>
              <a:spcAft>
                <a:spcPts val="600"/>
              </a:spcAft>
            </a:pPr>
            <a:r>
              <a:rPr sz="1800" b="1">
                <a:solidFill>
                  <a:srgbClr val="E9EDF7"/>
                </a:solidFill>
              </a:rPr>
              <a:t>Double spend</a:t>
            </a:r>
          </a:p>
        </p:txBody>
      </p:sp>
      <p:sp>
        <p:nvSpPr>
          <p:cNvPr id="11" name="TextBox 10"/>
          <p:cNvSpPr txBox="1"/>
          <p:nvPr/>
        </p:nvSpPr>
        <p:spPr>
          <a:xfrm>
            <a:off x="4206240" y="1938528"/>
            <a:ext cx="2651760" cy="457200"/>
          </a:xfrm>
          <a:prstGeom prst="rect">
            <a:avLst/>
          </a:prstGeom>
          <a:noFill/>
        </p:spPr>
        <p:txBody>
          <a:bodyPr wrap="square">
            <a:spAutoFit/>
          </a:bodyPr>
          <a:lstStyle/>
          <a:p>
            <a:pPr>
              <a:spcAft>
                <a:spcPts val="600"/>
              </a:spcAft>
            </a:pPr>
            <a:r>
              <a:rPr sz="1800" b="1">
                <a:solidFill>
                  <a:srgbClr val="34D399"/>
                </a:solidFill>
              </a:rPr>
              <a:t>Rejected</a:t>
            </a:r>
          </a:p>
        </p:txBody>
      </p:sp>
      <p:sp>
        <p:nvSpPr>
          <p:cNvPr id="12" name="TextBox 11"/>
          <p:cNvSpPr txBox="1"/>
          <p:nvPr/>
        </p:nvSpPr>
        <p:spPr>
          <a:xfrm>
            <a:off x="6766560" y="1938528"/>
            <a:ext cx="4846320" cy="457200"/>
          </a:xfrm>
          <a:prstGeom prst="rect">
            <a:avLst/>
          </a:prstGeom>
          <a:noFill/>
        </p:spPr>
        <p:txBody>
          <a:bodyPr wrap="square">
            <a:spAutoFit/>
          </a:bodyPr>
          <a:lstStyle/>
          <a:p>
            <a:pPr>
              <a:spcAft>
                <a:spcPts val="600"/>
              </a:spcAft>
            </a:pPr>
            <a:r>
              <a:rPr sz="1600" b="0">
                <a:solidFill>
                  <a:srgbClr val="8592B0"/>
                </a:solidFill>
              </a:rPr>
              <a:t>nonce already used / balance spent</a:t>
            </a:r>
          </a:p>
        </p:txBody>
      </p:sp>
      <p:sp>
        <p:nvSpPr>
          <p:cNvPr id="13" name="TextBox 12"/>
          <p:cNvSpPr txBox="1"/>
          <p:nvPr/>
        </p:nvSpPr>
        <p:spPr>
          <a:xfrm>
            <a:off x="640080" y="2414016"/>
            <a:ext cx="3566160" cy="457200"/>
          </a:xfrm>
          <a:prstGeom prst="rect">
            <a:avLst/>
          </a:prstGeom>
          <a:noFill/>
        </p:spPr>
        <p:txBody>
          <a:bodyPr wrap="square">
            <a:spAutoFit/>
          </a:bodyPr>
          <a:lstStyle/>
          <a:p>
            <a:pPr>
              <a:spcAft>
                <a:spcPts val="600"/>
              </a:spcAft>
            </a:pPr>
            <a:r>
              <a:rPr sz="1800" b="1">
                <a:solidFill>
                  <a:srgbClr val="E9EDF7"/>
                </a:solidFill>
              </a:rPr>
              <a:t>Replay</a:t>
            </a:r>
          </a:p>
        </p:txBody>
      </p:sp>
      <p:sp>
        <p:nvSpPr>
          <p:cNvPr id="14" name="TextBox 13"/>
          <p:cNvSpPr txBox="1"/>
          <p:nvPr/>
        </p:nvSpPr>
        <p:spPr>
          <a:xfrm>
            <a:off x="4206240" y="2414016"/>
            <a:ext cx="2651760" cy="457200"/>
          </a:xfrm>
          <a:prstGeom prst="rect">
            <a:avLst/>
          </a:prstGeom>
          <a:noFill/>
        </p:spPr>
        <p:txBody>
          <a:bodyPr wrap="square">
            <a:spAutoFit/>
          </a:bodyPr>
          <a:lstStyle/>
          <a:p>
            <a:pPr>
              <a:spcAft>
                <a:spcPts val="600"/>
              </a:spcAft>
            </a:pPr>
            <a:r>
              <a:rPr sz="1800" b="1">
                <a:solidFill>
                  <a:srgbClr val="34D399"/>
                </a:solidFill>
              </a:rPr>
              <a:t>Rejected</a:t>
            </a:r>
          </a:p>
        </p:txBody>
      </p:sp>
      <p:sp>
        <p:nvSpPr>
          <p:cNvPr id="15" name="TextBox 14"/>
          <p:cNvSpPr txBox="1"/>
          <p:nvPr/>
        </p:nvSpPr>
        <p:spPr>
          <a:xfrm>
            <a:off x="6766560" y="2414016"/>
            <a:ext cx="4846320" cy="457200"/>
          </a:xfrm>
          <a:prstGeom prst="rect">
            <a:avLst/>
          </a:prstGeom>
          <a:noFill/>
        </p:spPr>
        <p:txBody>
          <a:bodyPr wrap="square">
            <a:spAutoFit/>
          </a:bodyPr>
          <a:lstStyle/>
          <a:p>
            <a:pPr>
              <a:spcAft>
                <a:spcPts val="600"/>
              </a:spcAft>
            </a:pPr>
            <a:r>
              <a:rPr sz="1600" b="0">
                <a:solidFill>
                  <a:srgbClr val="8592B0"/>
                </a:solidFill>
              </a:rPr>
              <a:t>nonce already consumed</a:t>
            </a:r>
          </a:p>
        </p:txBody>
      </p:sp>
      <p:sp>
        <p:nvSpPr>
          <p:cNvPr id="16" name="TextBox 15"/>
          <p:cNvSpPr txBox="1"/>
          <p:nvPr/>
        </p:nvSpPr>
        <p:spPr>
          <a:xfrm>
            <a:off x="640080" y="2889504"/>
            <a:ext cx="3566160" cy="457200"/>
          </a:xfrm>
          <a:prstGeom prst="rect">
            <a:avLst/>
          </a:prstGeom>
          <a:noFill/>
        </p:spPr>
        <p:txBody>
          <a:bodyPr wrap="square">
            <a:spAutoFit/>
          </a:bodyPr>
          <a:lstStyle/>
          <a:p>
            <a:pPr>
              <a:spcAft>
                <a:spcPts val="600"/>
              </a:spcAft>
            </a:pPr>
            <a:r>
              <a:rPr sz="1800" b="1">
                <a:solidFill>
                  <a:srgbClr val="E9EDF7"/>
                </a:solidFill>
              </a:rPr>
              <a:t>Tamper with old block</a:t>
            </a:r>
          </a:p>
        </p:txBody>
      </p:sp>
      <p:sp>
        <p:nvSpPr>
          <p:cNvPr id="17" name="TextBox 16"/>
          <p:cNvSpPr txBox="1"/>
          <p:nvPr/>
        </p:nvSpPr>
        <p:spPr>
          <a:xfrm>
            <a:off x="4206240" y="2889504"/>
            <a:ext cx="2651760" cy="457200"/>
          </a:xfrm>
          <a:prstGeom prst="rect">
            <a:avLst/>
          </a:prstGeom>
          <a:noFill/>
        </p:spPr>
        <p:txBody>
          <a:bodyPr wrap="square">
            <a:spAutoFit/>
          </a:bodyPr>
          <a:lstStyle/>
          <a:p>
            <a:pPr>
              <a:spcAft>
                <a:spcPts val="600"/>
              </a:spcAft>
            </a:pPr>
            <a:r>
              <a:rPr sz="1800" b="1">
                <a:solidFill>
                  <a:srgbClr val="34D399"/>
                </a:solidFill>
              </a:rPr>
              <a:t>Detected at block #</a:t>
            </a:r>
          </a:p>
        </p:txBody>
      </p:sp>
      <p:sp>
        <p:nvSpPr>
          <p:cNvPr id="18" name="TextBox 17"/>
          <p:cNvSpPr txBox="1"/>
          <p:nvPr/>
        </p:nvSpPr>
        <p:spPr>
          <a:xfrm>
            <a:off x="6766560" y="2889504"/>
            <a:ext cx="4846320" cy="457200"/>
          </a:xfrm>
          <a:prstGeom prst="rect">
            <a:avLst/>
          </a:prstGeom>
          <a:noFill/>
        </p:spPr>
        <p:txBody>
          <a:bodyPr wrap="square">
            <a:spAutoFit/>
          </a:bodyPr>
          <a:lstStyle/>
          <a:p>
            <a:pPr>
              <a:spcAft>
                <a:spcPts val="600"/>
              </a:spcAft>
            </a:pPr>
            <a:r>
              <a:rPr sz="1600" b="0">
                <a:solidFill>
                  <a:srgbClr val="8592B0"/>
                </a:solidFill>
              </a:rPr>
              <a:t>Merkle root / hash / link breaks</a:t>
            </a:r>
          </a:p>
        </p:txBody>
      </p:sp>
      <p:sp>
        <p:nvSpPr>
          <p:cNvPr id="19" name="TextBox 18"/>
          <p:cNvSpPr txBox="1"/>
          <p:nvPr/>
        </p:nvSpPr>
        <p:spPr>
          <a:xfrm>
            <a:off x="640080" y="3364992"/>
            <a:ext cx="3566160" cy="457200"/>
          </a:xfrm>
          <a:prstGeom prst="rect">
            <a:avLst/>
          </a:prstGeom>
          <a:noFill/>
        </p:spPr>
        <p:txBody>
          <a:bodyPr wrap="square">
            <a:spAutoFit/>
          </a:bodyPr>
          <a:lstStyle/>
          <a:p>
            <a:pPr>
              <a:spcAft>
                <a:spcPts val="600"/>
              </a:spcAft>
            </a:pPr>
            <a:r>
              <a:rPr sz="1800" b="1">
                <a:solidFill>
                  <a:srgbClr val="E9EDF7"/>
                </a:solidFill>
              </a:rPr>
              <a:t>51%: small attacker</a:t>
            </a:r>
          </a:p>
        </p:txBody>
      </p:sp>
      <p:sp>
        <p:nvSpPr>
          <p:cNvPr id="20" name="TextBox 19"/>
          <p:cNvSpPr txBox="1"/>
          <p:nvPr/>
        </p:nvSpPr>
        <p:spPr>
          <a:xfrm>
            <a:off x="4206240" y="3364992"/>
            <a:ext cx="2651760" cy="457200"/>
          </a:xfrm>
          <a:prstGeom prst="rect">
            <a:avLst/>
          </a:prstGeom>
          <a:noFill/>
        </p:spPr>
        <p:txBody>
          <a:bodyPr wrap="square">
            <a:spAutoFit/>
          </a:bodyPr>
          <a:lstStyle/>
          <a:p>
            <a:pPr>
              <a:spcAft>
                <a:spcPts val="600"/>
              </a:spcAft>
            </a:pPr>
            <a:r>
              <a:rPr sz="1800" b="1">
                <a:solidFill>
                  <a:srgbClr val="34D399"/>
                </a:solidFill>
              </a:rPr>
              <a:t>Rejected</a:t>
            </a:r>
          </a:p>
        </p:txBody>
      </p:sp>
      <p:sp>
        <p:nvSpPr>
          <p:cNvPr id="21" name="TextBox 20"/>
          <p:cNvSpPr txBox="1"/>
          <p:nvPr/>
        </p:nvSpPr>
        <p:spPr>
          <a:xfrm>
            <a:off x="6766560" y="3364992"/>
            <a:ext cx="4846320" cy="457200"/>
          </a:xfrm>
          <a:prstGeom prst="rect">
            <a:avLst/>
          </a:prstGeom>
          <a:noFill/>
        </p:spPr>
        <p:txBody>
          <a:bodyPr wrap="square">
            <a:spAutoFit/>
          </a:bodyPr>
          <a:lstStyle/>
          <a:p>
            <a:pPr>
              <a:spcAft>
                <a:spcPts val="600"/>
              </a:spcAft>
            </a:pPr>
            <a:r>
              <a:rPr sz="1600" b="0">
                <a:solidFill>
                  <a:srgbClr val="8592B0"/>
                </a:solidFill>
              </a:rPr>
              <a:t>fork has less cumulative work</a:t>
            </a:r>
          </a:p>
        </p:txBody>
      </p:sp>
      <p:sp>
        <p:nvSpPr>
          <p:cNvPr id="22" name="TextBox 21"/>
          <p:cNvSpPr txBox="1"/>
          <p:nvPr/>
        </p:nvSpPr>
        <p:spPr>
          <a:xfrm>
            <a:off x="640080" y="3840480"/>
            <a:ext cx="3566160" cy="457200"/>
          </a:xfrm>
          <a:prstGeom prst="rect">
            <a:avLst/>
          </a:prstGeom>
          <a:noFill/>
        </p:spPr>
        <p:txBody>
          <a:bodyPr wrap="square">
            <a:spAutoFit/>
          </a:bodyPr>
          <a:lstStyle/>
          <a:p>
            <a:pPr>
              <a:spcAft>
                <a:spcPts val="600"/>
              </a:spcAft>
            </a:pPr>
            <a:r>
              <a:rPr sz="1800" b="1">
                <a:solidFill>
                  <a:srgbClr val="E9EDF7"/>
                </a:solidFill>
              </a:rPr>
              <a:t>51%: majority attacker</a:t>
            </a:r>
          </a:p>
        </p:txBody>
      </p:sp>
      <p:sp>
        <p:nvSpPr>
          <p:cNvPr id="23" name="TextBox 22"/>
          <p:cNvSpPr txBox="1"/>
          <p:nvPr/>
        </p:nvSpPr>
        <p:spPr>
          <a:xfrm>
            <a:off x="4206240" y="3840480"/>
            <a:ext cx="2651760" cy="457200"/>
          </a:xfrm>
          <a:prstGeom prst="rect">
            <a:avLst/>
          </a:prstGeom>
          <a:noFill/>
        </p:spPr>
        <p:txBody>
          <a:bodyPr wrap="square">
            <a:spAutoFit/>
          </a:bodyPr>
          <a:lstStyle/>
          <a:p>
            <a:pPr>
              <a:spcAft>
                <a:spcPts val="600"/>
              </a:spcAft>
            </a:pPr>
            <a:r>
              <a:rPr sz="1800" b="1">
                <a:solidFill>
                  <a:srgbClr val="F87171"/>
                </a:solidFill>
              </a:rPr>
              <a:t>SUCCEEDS</a:t>
            </a:r>
          </a:p>
        </p:txBody>
      </p:sp>
      <p:sp>
        <p:nvSpPr>
          <p:cNvPr id="24" name="TextBox 23"/>
          <p:cNvSpPr txBox="1"/>
          <p:nvPr/>
        </p:nvSpPr>
        <p:spPr>
          <a:xfrm>
            <a:off x="6766560" y="3840480"/>
            <a:ext cx="4846320" cy="457200"/>
          </a:xfrm>
          <a:prstGeom prst="rect">
            <a:avLst/>
          </a:prstGeom>
          <a:noFill/>
        </p:spPr>
        <p:txBody>
          <a:bodyPr wrap="square">
            <a:spAutoFit/>
          </a:bodyPr>
          <a:lstStyle/>
          <a:p>
            <a:pPr>
              <a:spcAft>
                <a:spcPts val="600"/>
              </a:spcAft>
            </a:pPr>
            <a:r>
              <a:rPr sz="1600" b="0">
                <a:solidFill>
                  <a:srgbClr val="8592B0"/>
                </a:solidFill>
              </a:rPr>
              <a:t>history rewritten (the PoW limit)</a:t>
            </a:r>
          </a:p>
        </p:txBody>
      </p:sp>
      <p:sp>
        <p:nvSpPr>
          <p:cNvPr id="25" name="TextBox 24"/>
          <p:cNvSpPr txBox="1"/>
          <p:nvPr/>
        </p:nvSpPr>
        <p:spPr>
          <a:xfrm>
            <a:off x="640080" y="4389120"/>
            <a:ext cx="10881360" cy="457200"/>
          </a:xfrm>
          <a:prstGeom prst="rect">
            <a:avLst/>
          </a:prstGeom>
          <a:noFill/>
        </p:spPr>
        <p:txBody>
          <a:bodyPr wrap="square">
            <a:spAutoFit/>
          </a:bodyPr>
          <a:lstStyle/>
          <a:p>
            <a:pPr>
              <a:spcAft>
                <a:spcPts val="600"/>
              </a:spcAft>
            </a:pPr>
            <a:r>
              <a:rPr sz="2100" b="1">
                <a:solidFill>
                  <a:srgbClr val="34D399"/>
                </a:solidFill>
              </a:rPr>
              <a:t>How to defend against a 51% attack</a:t>
            </a:r>
          </a:p>
        </p:txBody>
      </p:sp>
      <p:sp>
        <p:nvSpPr>
          <p:cNvPr id="26" name="Rounded Rectangle 25"/>
          <p:cNvSpPr/>
          <p:nvPr/>
        </p:nvSpPr>
        <p:spPr>
          <a:xfrm>
            <a:off x="640080" y="4892040"/>
            <a:ext cx="2615184" cy="1417320"/>
          </a:xfrm>
          <a:prstGeom prst="roundRect">
            <a:avLst>
              <a:gd name="adj" fmla="val 8000"/>
            </a:avLst>
          </a:prstGeom>
          <a:solidFill>
            <a:srgbClr val="131A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956048"/>
            <a:ext cx="2377440" cy="457200"/>
          </a:xfrm>
          <a:prstGeom prst="rect">
            <a:avLst/>
          </a:prstGeom>
          <a:noFill/>
        </p:spPr>
        <p:txBody>
          <a:bodyPr wrap="square">
            <a:spAutoFit/>
          </a:bodyPr>
          <a:lstStyle/>
          <a:p>
            <a:pPr>
              <a:spcAft>
                <a:spcPts val="600"/>
              </a:spcAft>
            </a:pPr>
            <a:r>
              <a:rPr sz="1400" b="1">
                <a:solidFill>
                  <a:srgbClr val="E9EDF7"/>
                </a:solidFill>
              </a:rPr>
              <a:t>Wait for confirmations</a:t>
            </a:r>
          </a:p>
        </p:txBody>
      </p:sp>
      <p:sp>
        <p:nvSpPr>
          <p:cNvPr id="28" name="TextBox 27"/>
          <p:cNvSpPr txBox="1"/>
          <p:nvPr/>
        </p:nvSpPr>
        <p:spPr>
          <a:xfrm>
            <a:off x="777240" y="5468112"/>
            <a:ext cx="2377440" cy="822960"/>
          </a:xfrm>
          <a:prstGeom prst="rect">
            <a:avLst/>
          </a:prstGeom>
          <a:noFill/>
        </p:spPr>
        <p:txBody>
          <a:bodyPr wrap="square">
            <a:spAutoFit/>
          </a:bodyPr>
          <a:lstStyle/>
          <a:p>
            <a:pPr>
              <a:spcAft>
                <a:spcPts val="600"/>
              </a:spcAft>
            </a:pPr>
            <a:r>
              <a:rPr sz="1200" b="0">
                <a:solidFill>
                  <a:srgbClr val="8592B0"/>
                </a:solidFill>
              </a:rPr>
              <a:t>Treat a payment as final only after about 6 blocks are built on top of it.</a:t>
            </a:r>
          </a:p>
        </p:txBody>
      </p:sp>
      <p:sp>
        <p:nvSpPr>
          <p:cNvPr id="29" name="Rounded Rectangle 28"/>
          <p:cNvSpPr/>
          <p:nvPr/>
        </p:nvSpPr>
        <p:spPr>
          <a:xfrm>
            <a:off x="3401568" y="4892040"/>
            <a:ext cx="2615184" cy="1417320"/>
          </a:xfrm>
          <a:prstGeom prst="roundRect">
            <a:avLst>
              <a:gd name="adj" fmla="val 8000"/>
            </a:avLst>
          </a:prstGeom>
          <a:solidFill>
            <a:srgbClr val="131A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38727" y="4956048"/>
            <a:ext cx="2377440" cy="457200"/>
          </a:xfrm>
          <a:prstGeom prst="rect">
            <a:avLst/>
          </a:prstGeom>
          <a:noFill/>
        </p:spPr>
        <p:txBody>
          <a:bodyPr wrap="square">
            <a:spAutoFit/>
          </a:bodyPr>
          <a:lstStyle/>
          <a:p>
            <a:pPr>
              <a:spcAft>
                <a:spcPts val="600"/>
              </a:spcAft>
            </a:pPr>
            <a:r>
              <a:rPr sz="1400" b="1">
                <a:solidFill>
                  <a:srgbClr val="E9EDF7"/>
                </a:solidFill>
              </a:rPr>
              <a:t>Raise the difficulty</a:t>
            </a:r>
          </a:p>
        </p:txBody>
      </p:sp>
      <p:sp>
        <p:nvSpPr>
          <p:cNvPr id="31" name="TextBox 30"/>
          <p:cNvSpPr txBox="1"/>
          <p:nvPr/>
        </p:nvSpPr>
        <p:spPr>
          <a:xfrm>
            <a:off x="3538727" y="5468112"/>
            <a:ext cx="2377440" cy="822960"/>
          </a:xfrm>
          <a:prstGeom prst="rect">
            <a:avLst/>
          </a:prstGeom>
          <a:noFill/>
        </p:spPr>
        <p:txBody>
          <a:bodyPr wrap="square">
            <a:spAutoFit/>
          </a:bodyPr>
          <a:lstStyle/>
          <a:p>
            <a:pPr>
              <a:spcAft>
                <a:spcPts val="600"/>
              </a:spcAft>
            </a:pPr>
            <a:r>
              <a:rPr sz="1200" b="0">
                <a:solidFill>
                  <a:srgbClr val="8592B0"/>
                </a:solidFill>
              </a:rPr>
              <a:t>A higher hash rate makes it far more expensive to out-mine honest miners.</a:t>
            </a:r>
          </a:p>
        </p:txBody>
      </p:sp>
      <p:sp>
        <p:nvSpPr>
          <p:cNvPr id="32" name="Rounded Rectangle 31"/>
          <p:cNvSpPr/>
          <p:nvPr/>
        </p:nvSpPr>
        <p:spPr>
          <a:xfrm>
            <a:off x="6163056" y="4892040"/>
            <a:ext cx="2615184" cy="1417320"/>
          </a:xfrm>
          <a:prstGeom prst="roundRect">
            <a:avLst>
              <a:gd name="adj" fmla="val 8000"/>
            </a:avLst>
          </a:prstGeom>
          <a:solidFill>
            <a:srgbClr val="131A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0216" y="4956048"/>
            <a:ext cx="2377440" cy="457200"/>
          </a:xfrm>
          <a:prstGeom prst="rect">
            <a:avLst/>
          </a:prstGeom>
          <a:noFill/>
        </p:spPr>
        <p:txBody>
          <a:bodyPr wrap="square">
            <a:spAutoFit/>
          </a:bodyPr>
          <a:lstStyle/>
          <a:p>
            <a:pPr>
              <a:spcAft>
                <a:spcPts val="600"/>
              </a:spcAft>
            </a:pPr>
            <a:r>
              <a:rPr sz="1400" b="1">
                <a:solidFill>
                  <a:srgbClr val="E9EDF7"/>
                </a:solidFill>
              </a:rPr>
              <a:t>Add checkpoints</a:t>
            </a:r>
          </a:p>
        </p:txBody>
      </p:sp>
      <p:sp>
        <p:nvSpPr>
          <p:cNvPr id="34" name="TextBox 33"/>
          <p:cNvSpPr txBox="1"/>
          <p:nvPr/>
        </p:nvSpPr>
        <p:spPr>
          <a:xfrm>
            <a:off x="6300216" y="5468112"/>
            <a:ext cx="2377440" cy="822960"/>
          </a:xfrm>
          <a:prstGeom prst="rect">
            <a:avLst/>
          </a:prstGeom>
          <a:noFill/>
        </p:spPr>
        <p:txBody>
          <a:bodyPr wrap="square">
            <a:spAutoFit/>
          </a:bodyPr>
          <a:lstStyle/>
          <a:p>
            <a:pPr>
              <a:spcAft>
                <a:spcPts val="600"/>
              </a:spcAft>
            </a:pPr>
            <a:r>
              <a:rPr sz="1200" b="0">
                <a:solidFill>
                  <a:srgbClr val="8592B0"/>
                </a:solidFill>
              </a:rPr>
              <a:t>Nodes refuse to reorganise the chain past a block everyone has agreed on.</a:t>
            </a:r>
          </a:p>
        </p:txBody>
      </p:sp>
      <p:sp>
        <p:nvSpPr>
          <p:cNvPr id="35" name="Rounded Rectangle 34"/>
          <p:cNvSpPr/>
          <p:nvPr/>
        </p:nvSpPr>
        <p:spPr>
          <a:xfrm>
            <a:off x="8924544" y="4892040"/>
            <a:ext cx="2615184" cy="1417320"/>
          </a:xfrm>
          <a:prstGeom prst="roundRect">
            <a:avLst>
              <a:gd name="adj" fmla="val 8000"/>
            </a:avLst>
          </a:prstGeom>
          <a:solidFill>
            <a:srgbClr val="131A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61704" y="4956048"/>
            <a:ext cx="2377440" cy="457200"/>
          </a:xfrm>
          <a:prstGeom prst="rect">
            <a:avLst/>
          </a:prstGeom>
          <a:noFill/>
        </p:spPr>
        <p:txBody>
          <a:bodyPr wrap="square">
            <a:spAutoFit/>
          </a:bodyPr>
          <a:lstStyle/>
          <a:p>
            <a:pPr>
              <a:spcAft>
                <a:spcPts val="600"/>
              </a:spcAft>
            </a:pPr>
            <a:r>
              <a:rPr sz="1400" b="1">
                <a:solidFill>
                  <a:srgbClr val="E9EDF7"/>
                </a:solidFill>
              </a:rPr>
              <a:t>Use proof-of-stake</a:t>
            </a:r>
          </a:p>
        </p:txBody>
      </p:sp>
      <p:sp>
        <p:nvSpPr>
          <p:cNvPr id="37" name="TextBox 36"/>
          <p:cNvSpPr txBox="1"/>
          <p:nvPr/>
        </p:nvSpPr>
        <p:spPr>
          <a:xfrm>
            <a:off x="9061704" y="5468112"/>
            <a:ext cx="2377440" cy="822960"/>
          </a:xfrm>
          <a:prstGeom prst="rect">
            <a:avLst/>
          </a:prstGeom>
          <a:noFill/>
        </p:spPr>
        <p:txBody>
          <a:bodyPr wrap="square">
            <a:spAutoFit/>
          </a:bodyPr>
          <a:lstStyle/>
          <a:p>
            <a:pPr>
              <a:spcAft>
                <a:spcPts val="600"/>
              </a:spcAft>
            </a:pPr>
            <a:r>
              <a:rPr sz="1200" b="0">
                <a:solidFill>
                  <a:srgbClr val="8592B0"/>
                </a:solidFill>
              </a:rPr>
              <a:t>Attackers risk their own staked coins if they try to rewrite history.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EA8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7315200" cy="365760"/>
          </a:xfrm>
          <a:prstGeom prst="rect">
            <a:avLst/>
          </a:prstGeom>
          <a:noFill/>
        </p:spPr>
        <p:txBody>
          <a:bodyPr wrap="square">
            <a:spAutoFit/>
          </a:bodyPr>
          <a:lstStyle/>
          <a:p>
            <a:pPr>
              <a:spcAft>
                <a:spcPts val="600"/>
              </a:spcAft>
            </a:pPr>
            <a:r>
              <a:rPr sz="1300" b="1">
                <a:solidFill>
                  <a:srgbClr val="6EA8FE"/>
                </a:solidFill>
              </a:rPr>
              <a:t>WRAP-UP</a:t>
            </a:r>
          </a:p>
        </p:txBody>
      </p:sp>
      <p:sp>
        <p:nvSpPr>
          <p:cNvPr id="4" name="TextBox 3"/>
          <p:cNvSpPr txBox="1"/>
          <p:nvPr/>
        </p:nvSpPr>
        <p:spPr>
          <a:xfrm>
            <a:off x="640080" y="566928"/>
            <a:ext cx="10972800" cy="914400"/>
          </a:xfrm>
          <a:prstGeom prst="rect">
            <a:avLst/>
          </a:prstGeom>
          <a:noFill/>
        </p:spPr>
        <p:txBody>
          <a:bodyPr wrap="square">
            <a:spAutoFit/>
          </a:bodyPr>
          <a:lstStyle/>
          <a:p>
            <a:pPr>
              <a:spcAft>
                <a:spcPts val="600"/>
              </a:spcAft>
            </a:pPr>
            <a:r>
              <a:rPr sz="3400" b="1">
                <a:solidFill>
                  <a:srgbClr val="E9EDF7"/>
                </a:solidFill>
              </a:rPr>
              <a:t>Conclusion</a:t>
            </a:r>
          </a:p>
        </p:txBody>
      </p:sp>
      <p:sp>
        <p:nvSpPr>
          <p:cNvPr id="5" name="TextBox 4"/>
          <p:cNvSpPr txBox="1"/>
          <p:nvPr/>
        </p:nvSpPr>
        <p:spPr>
          <a:xfrm>
            <a:off x="640080" y="6419088"/>
            <a:ext cx="8229600" cy="320040"/>
          </a:xfrm>
          <a:prstGeom prst="rect">
            <a:avLst/>
          </a:prstGeom>
          <a:noFill/>
        </p:spPr>
        <p:txBody>
          <a:bodyPr wrap="square">
            <a:spAutoFit/>
          </a:bodyPr>
          <a:lstStyle/>
          <a:p>
            <a:pPr>
              <a:spcAft>
                <a:spcPts val="600"/>
              </a:spcAft>
            </a:pPr>
            <a:r>
              <a:rPr sz="1100" b="0">
                <a:solidFill>
                  <a:srgbClr val="8592B0"/>
                </a:solidFill>
              </a:rPr>
              <a:t>MiniChain  ·  EC8204  ·  Group 41  ·  EG/2021/4754  ·  EG/2021/4706</a:t>
            </a:r>
          </a:p>
        </p:txBody>
      </p:sp>
      <p:sp>
        <p:nvSpPr>
          <p:cNvPr id="6" name="TextBox 5"/>
          <p:cNvSpPr txBox="1"/>
          <p:nvPr/>
        </p:nvSpPr>
        <p:spPr>
          <a:xfrm>
            <a:off x="10881360" y="6419088"/>
            <a:ext cx="731520" cy="320040"/>
          </a:xfrm>
          <a:prstGeom prst="rect">
            <a:avLst/>
          </a:prstGeom>
          <a:noFill/>
        </p:spPr>
        <p:txBody>
          <a:bodyPr wrap="square">
            <a:spAutoFit/>
          </a:bodyPr>
          <a:lstStyle/>
          <a:p>
            <a:pPr>
              <a:spcAft>
                <a:spcPts val="600"/>
              </a:spcAft>
            </a:pPr>
            <a:r>
              <a:rPr sz="1100" b="0">
                <a:solidFill>
                  <a:srgbClr val="8592B0"/>
                </a:solidFill>
              </a:rPr>
              <a:t>6 / 6</a:t>
            </a:r>
          </a:p>
        </p:txBody>
      </p:sp>
      <p:sp>
        <p:nvSpPr>
          <p:cNvPr id="7" name="TextBox 6"/>
          <p:cNvSpPr txBox="1"/>
          <p:nvPr/>
        </p:nvSpPr>
        <p:spPr>
          <a:xfrm>
            <a:off x="640080" y="1600200"/>
            <a:ext cx="6949440" cy="3291840"/>
          </a:xfrm>
          <a:prstGeom prst="rect">
            <a:avLst/>
          </a:prstGeom>
          <a:noFill/>
        </p:spPr>
        <p:txBody>
          <a:bodyPr wrap="square">
            <a:spAutoFit/>
          </a:bodyPr>
          <a:lstStyle/>
          <a:p>
            <a:pPr>
              <a:spcAft>
                <a:spcPts val="600"/>
              </a:spcAft>
            </a:pPr>
            <a:r>
              <a:rPr sz="2100" b="0">
                <a:solidFill>
                  <a:srgbClr val="E9EDF7"/>
                </a:solidFill>
              </a:rPr>
              <a:t>✓  Tamper-evident ledger with signed, replay-proof payments</a:t>
            </a:r>
          </a:p>
          <a:p>
            <a:pPr>
              <a:spcAft>
                <a:spcPts val="600"/>
              </a:spcAft>
            </a:pPr>
            <a:r>
              <a:rPr sz="2100" b="0">
                <a:solidFill>
                  <a:srgbClr val="E9EDF7"/>
                </a:solidFill>
              </a:rPr>
              <a:t>✓  Proof-of-work consensus with fork resolution</a:t>
            </a:r>
          </a:p>
          <a:p>
            <a:pPr>
              <a:spcAft>
                <a:spcPts val="600"/>
              </a:spcAft>
            </a:pPr>
            <a:r>
              <a:rPr sz="2100" b="0">
                <a:solidFill>
                  <a:srgbClr val="E9EDF7"/>
                </a:solidFill>
              </a:rPr>
              <a:t>✓  Working 3-node peer-to-peer network with fees</a:t>
            </a:r>
          </a:p>
          <a:p>
            <a:pPr>
              <a:spcAft>
                <a:spcPts val="600"/>
              </a:spcAft>
            </a:pPr>
            <a:r>
              <a:rPr sz="2100" b="0">
                <a:solidFill>
                  <a:srgbClr val="E9EDF7"/>
                </a:solidFill>
              </a:rPr>
              <a:t>✓  Attacks demonstrated, including where the design breaks (51%)</a:t>
            </a:r>
          </a:p>
        </p:txBody>
      </p:sp>
      <p:sp>
        <p:nvSpPr>
          <p:cNvPr id="8" name="Rounded Rectangle 7"/>
          <p:cNvSpPr/>
          <p:nvPr/>
        </p:nvSpPr>
        <p:spPr>
          <a:xfrm>
            <a:off x="640080" y="4343400"/>
            <a:ext cx="6949440" cy="1737360"/>
          </a:xfrm>
          <a:prstGeom prst="roundRect">
            <a:avLst>
              <a:gd name="adj" fmla="val 10000"/>
            </a:avLst>
          </a:prstGeom>
          <a:solidFill>
            <a:srgbClr val="13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480560"/>
            <a:ext cx="6492240" cy="1554480"/>
          </a:xfrm>
          <a:prstGeom prst="rect">
            <a:avLst/>
          </a:prstGeom>
          <a:noFill/>
        </p:spPr>
        <p:txBody>
          <a:bodyPr wrap="square">
            <a:spAutoFit/>
          </a:bodyPr>
          <a:lstStyle/>
          <a:p>
            <a:pPr>
              <a:spcAft>
                <a:spcPts val="600"/>
              </a:spcAft>
            </a:pPr>
            <a:r>
              <a:rPr sz="1700" b="0">
                <a:solidFill>
                  <a:srgbClr val="8592B0"/>
                </a:solidFill>
              </a:rPr>
              <a:t>Limits &amp; future work</a:t>
            </a:r>
          </a:p>
          <a:p>
            <a:pPr>
              <a:spcAft>
                <a:spcPts val="600"/>
              </a:spcAft>
            </a:pPr>
            <a:r>
              <a:rPr sz="1700" b="0">
                <a:solidFill>
                  <a:srgbClr val="8592B0"/>
                </a:solidFill>
              </a:rPr>
              <a:t>Dynamic difficulty · authenticated peers · disk persistence · checkpoints / PoS finality</a:t>
            </a:r>
          </a:p>
        </p:txBody>
      </p:sp>
      <p:sp>
        <p:nvSpPr>
          <p:cNvPr id="10" name="Rounded Rectangle 9"/>
          <p:cNvSpPr/>
          <p:nvPr/>
        </p:nvSpPr>
        <p:spPr>
          <a:xfrm>
            <a:off x="7955279" y="1600200"/>
            <a:ext cx="3566160" cy="4480560"/>
          </a:xfrm>
          <a:prstGeom prst="roundRect">
            <a:avLst>
              <a:gd name="adj" fmla="val 6000"/>
            </a:avLst>
          </a:prstGeom>
          <a:solidFill>
            <a:srgbClr val="131A2E"/>
          </a:solidFill>
          <a:ln w="19050">
            <a:solidFill>
              <a:srgbClr val="6EA8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874519"/>
            <a:ext cx="3200400" cy="914400"/>
          </a:xfrm>
          <a:prstGeom prst="rect">
            <a:avLst/>
          </a:prstGeom>
          <a:noFill/>
        </p:spPr>
        <p:txBody>
          <a:bodyPr wrap="square">
            <a:spAutoFit/>
          </a:bodyPr>
          <a:lstStyle/>
          <a:p>
            <a:pPr>
              <a:spcAft>
                <a:spcPts val="600"/>
              </a:spcAft>
            </a:pPr>
            <a:r>
              <a:rPr sz="3600" b="1">
                <a:solidFill>
                  <a:srgbClr val="6EA8FE"/>
                </a:solidFill>
              </a:rPr>
              <a:t>Thank you</a:t>
            </a:r>
          </a:p>
        </p:txBody>
      </p:sp>
      <p:sp>
        <p:nvSpPr>
          <p:cNvPr id="12" name="TextBox 11"/>
          <p:cNvSpPr txBox="1"/>
          <p:nvPr/>
        </p:nvSpPr>
        <p:spPr>
          <a:xfrm>
            <a:off x="8183879" y="2834640"/>
            <a:ext cx="3200400" cy="3108960"/>
          </a:xfrm>
          <a:prstGeom prst="rect">
            <a:avLst/>
          </a:prstGeom>
          <a:noFill/>
        </p:spPr>
        <p:txBody>
          <a:bodyPr wrap="square">
            <a:spAutoFit/>
          </a:bodyPr>
          <a:lstStyle/>
          <a:p>
            <a:pPr>
              <a:spcAft>
                <a:spcPts val="600"/>
              </a:spcAft>
            </a:pPr>
            <a:r>
              <a:rPr sz="1400" b="0">
                <a:solidFill>
                  <a:srgbClr val="E9EDF7"/>
                </a:solidFill>
              </a:rPr>
              <a:t>Group 41</a:t>
            </a:r>
          </a:p>
          <a:p>
            <a:pPr>
              <a:spcAft>
                <a:spcPts val="600"/>
              </a:spcAft>
            </a:pPr>
            <a:r>
              <a:rPr sz="1400" b="0">
                <a:solidFill>
                  <a:srgbClr val="E9EDF7"/>
                </a:solidFill>
              </a:rPr>
              <a:t>Rathnayaka I.G.T.A</a:t>
            </a:r>
          </a:p>
          <a:p>
            <a:pPr>
              <a:spcAft>
                <a:spcPts val="600"/>
              </a:spcAft>
            </a:pPr>
            <a:r>
              <a:rPr sz="1400" b="0">
                <a:solidFill>
                  <a:srgbClr val="E9EDF7"/>
                </a:solidFill>
              </a:rPr>
              <a:t>EG/2021/4754</a:t>
            </a:r>
          </a:p>
          <a:p>
            <a:pPr>
              <a:spcAft>
                <a:spcPts val="600"/>
              </a:spcAft>
            </a:pPr>
            <a:r>
              <a:rPr sz="1400" b="0">
                <a:solidFill>
                  <a:srgbClr val="E9EDF7"/>
                </a:solidFill>
              </a:rPr>
              <a:t>Peiris P R S</a:t>
            </a:r>
          </a:p>
          <a:p>
            <a:pPr>
              <a:spcAft>
                <a:spcPts val="600"/>
              </a:spcAft>
            </a:pPr>
            <a:r>
              <a:rPr sz="1400" b="0">
                <a:solidFill>
                  <a:srgbClr val="E9EDF7"/>
                </a:solidFill>
              </a:rPr>
              <a:t>EG/2021/4706</a:t>
            </a:r>
          </a:p>
          <a:p>
            <a:pPr>
              <a:spcAft>
                <a:spcPts val="600"/>
              </a:spcAft>
            </a:pPr>
          </a:p>
          <a:p>
            <a:pPr>
              <a:spcAft>
                <a:spcPts val="600"/>
              </a:spcAft>
            </a:pPr>
            <a:r>
              <a:rPr sz="1400" b="0">
                <a:solidFill>
                  <a:srgbClr val="E9EDF7"/>
                </a:solidFill>
              </a:rPr>
              <a:t>GitHub: TA-rathnayaka/minichain</a:t>
            </a:r>
          </a:p>
          <a:p>
            <a:pPr>
              <a:spcAft>
                <a:spcPts val="600"/>
              </a:spcAft>
            </a:pPr>
            <a:r>
              <a:rPr sz="1400" b="0">
                <a:solidFill>
                  <a:srgbClr val="E9EDF7"/>
                </a:solidFill>
              </a:rPr>
              <a:t>Video: youtu.be/AgEqoAu_OqE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