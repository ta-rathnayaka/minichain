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15s: we built a cryptocurrency blockchain from scratch and attacked it ourselves.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30s: banks keep the ledger; if it is edited or a payment is copied, users must trust them. Blockchain removes that trust.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45s: wallet signs, nonce+balance stop replay/double spend, miner packs txs into a block with a Merkle root, PoW seals it, each block links to previous hash.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Attacks 45s: forged, double spend, replay, tamper all blocked. 51 percent succeeds only with majority work - the inherent PoW limit, so we recommend confirmations.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25s: three peers gossip transactions and blocks. We cut one off, both sides mined, then reconnected. The chain with more work won on every node, and orphaned payments went back to the mempool.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40s: show dashboard - send coins, mine, tamper button turns block red, 51 percent button. Then npm test: 18 of 18 pass.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15s: blockchain gives verifiable integrity without a trusted operator; limits are honest - single node, fixed difficulty, no fees.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MiniChain</a:t>
            </a:r>
          </a:p>
        </p:txBody>
      </p:sp>
      <p:sp>
        <p:nvSpPr>
          <p:cNvPr id="3" name="TextBox 2"/>
          <p:cNvSpPr txBox="1"/>
          <p:nvPr/>
        </p:nvSpPr>
        <p:spPr>
          <a:xfrm>
            <a:off x="640080" y="1463040"/>
            <a:ext cx="10972800" cy="914400"/>
          </a:xfrm>
          <a:prstGeom prst="rect">
            <a:avLst/>
          </a:prstGeom>
          <a:noFill/>
        </p:spPr>
        <p:txBody>
          <a:bodyPr wrap="square">
            <a:spAutoFit/>
          </a:bodyPr>
          <a:lstStyle/>
          <a:p>
            <a:pPr>
              <a:spcAft>
                <a:spcPts val="800"/>
              </a:spcAft>
            </a:pPr>
            <a:r>
              <a:rPr sz="2800" b="0">
                <a:solidFill>
                  <a:srgbClr val="60A5FA"/>
                </a:solidFill>
              </a:rPr>
              <a:t>A cryptocurrency transaction system with an attack lab</a:t>
            </a:r>
          </a:p>
        </p:txBody>
      </p:sp>
      <p:sp>
        <p:nvSpPr>
          <p:cNvPr id="4" name="TextBox 3"/>
          <p:cNvSpPr txBox="1"/>
          <p:nvPr/>
        </p:nvSpPr>
        <p:spPr>
          <a:xfrm>
            <a:off x="640080" y="2743200"/>
            <a:ext cx="10972800" cy="1828800"/>
          </a:xfrm>
          <a:prstGeom prst="rect">
            <a:avLst/>
          </a:prstGeom>
          <a:noFill/>
        </p:spPr>
        <p:txBody>
          <a:bodyPr wrap="square">
            <a:spAutoFit/>
          </a:bodyPr>
          <a:lstStyle/>
          <a:p>
            <a:pPr>
              <a:spcAft>
                <a:spcPts val="800"/>
              </a:spcAft>
            </a:pPr>
            <a:r>
              <a:rPr sz="2000" b="0">
                <a:solidFill>
                  <a:srgbClr val="8A95AD"/>
                </a:solidFill>
              </a:rPr>
              <a:t>EC8204 Blockchain and Cyber Security – Group Project</a:t>
            </a:r>
          </a:p>
          <a:p>
            <a:pPr>
              <a:spcAft>
                <a:spcPts val="800"/>
              </a:spcAft>
            </a:pPr>
            <a:r>
              <a:rPr sz="2000" b="0">
                <a:solidFill>
                  <a:srgbClr val="8A95AD"/>
                </a:solidFill>
              </a:rPr>
              <a:t>Group GP_XX  ·  members: EG/2021/xxxx, EG/2021/xxxx, EG/2021/xxxx, EG/2021/xxxx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Problem: trusting a middleman with the ledger</a:t>
            </a:r>
          </a:p>
        </p:txBody>
      </p:sp>
      <p:sp>
        <p:nvSpPr>
          <p:cNvPr id="3" name="Rounded Rectangle 2"/>
          <p:cNvSpPr/>
          <p:nvPr/>
        </p:nvSpPr>
        <p:spPr>
          <a:xfrm>
            <a:off x="640080"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91639"/>
            <a:ext cx="3200400" cy="548640"/>
          </a:xfrm>
          <a:prstGeom prst="rect">
            <a:avLst/>
          </a:prstGeom>
          <a:noFill/>
        </p:spPr>
        <p:txBody>
          <a:bodyPr wrap="square">
            <a:spAutoFit/>
          </a:bodyPr>
          <a:lstStyle/>
          <a:p>
            <a:pPr>
              <a:spcAft>
                <a:spcPts val="800"/>
              </a:spcAft>
            </a:pPr>
            <a:r>
              <a:rPr sz="2000" b="1">
                <a:solidFill>
                  <a:srgbClr val="F87171"/>
                </a:solidFill>
              </a:rPr>
              <a:t>Central ledger</a:t>
            </a:r>
          </a:p>
        </p:txBody>
      </p:sp>
      <p:sp>
        <p:nvSpPr>
          <p:cNvPr id="5" name="TextBox 4"/>
          <p:cNvSpPr txBox="1"/>
          <p:nvPr/>
        </p:nvSpPr>
        <p:spPr>
          <a:xfrm>
            <a:off x="822959" y="2240280"/>
            <a:ext cx="3200400" cy="3017520"/>
          </a:xfrm>
          <a:prstGeom prst="rect">
            <a:avLst/>
          </a:prstGeom>
          <a:noFill/>
        </p:spPr>
        <p:txBody>
          <a:bodyPr wrap="square">
            <a:spAutoFit/>
          </a:bodyPr>
          <a:lstStyle/>
          <a:p>
            <a:pPr>
              <a:spcAft>
                <a:spcPts val="800"/>
              </a:spcAft>
            </a:pPr>
            <a:r>
              <a:rPr sz="1600" b="0">
                <a:solidFill>
                  <a:srgbClr val="E8ECF5"/>
                </a:solidFill>
              </a:rPr>
              <a:t>One party can edit history</a:t>
            </a:r>
          </a:p>
          <a:p>
            <a:pPr>
              <a:spcAft>
                <a:spcPts val="800"/>
              </a:spcAft>
            </a:pPr>
            <a:r>
              <a:rPr sz="1600" b="0">
                <a:solidFill>
                  <a:srgbClr val="E8ECF5"/>
                </a:solidFill>
              </a:rPr>
              <a:t>Single point of failure</a:t>
            </a:r>
          </a:p>
          <a:p>
            <a:pPr>
              <a:spcAft>
                <a:spcPts val="800"/>
              </a:spcAft>
            </a:pPr>
            <a:r>
              <a:rPr sz="1600" b="0">
                <a:solidFill>
                  <a:srgbClr val="E8ECF5"/>
                </a:solidFill>
              </a:rPr>
              <a:t>Users must trust the operator</a:t>
            </a:r>
          </a:p>
        </p:txBody>
      </p:sp>
      <p:sp>
        <p:nvSpPr>
          <p:cNvPr id="6" name="Rounded Rectangle 5"/>
          <p:cNvSpPr/>
          <p:nvPr/>
        </p:nvSpPr>
        <p:spPr>
          <a:xfrm>
            <a:off x="4297680"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691639"/>
            <a:ext cx="3200400" cy="548640"/>
          </a:xfrm>
          <a:prstGeom prst="rect">
            <a:avLst/>
          </a:prstGeom>
          <a:noFill/>
        </p:spPr>
        <p:txBody>
          <a:bodyPr wrap="square">
            <a:spAutoFit/>
          </a:bodyPr>
          <a:lstStyle/>
          <a:p>
            <a:pPr>
              <a:spcAft>
                <a:spcPts val="800"/>
              </a:spcAft>
            </a:pPr>
            <a:r>
              <a:rPr sz="2000" b="1">
                <a:solidFill>
                  <a:srgbClr val="F87171"/>
                </a:solidFill>
              </a:rPr>
              <a:t>Threats</a:t>
            </a:r>
          </a:p>
        </p:txBody>
      </p:sp>
      <p:sp>
        <p:nvSpPr>
          <p:cNvPr id="8" name="TextBox 7"/>
          <p:cNvSpPr txBox="1"/>
          <p:nvPr/>
        </p:nvSpPr>
        <p:spPr>
          <a:xfrm>
            <a:off x="4480560" y="2240280"/>
            <a:ext cx="3200400" cy="3017520"/>
          </a:xfrm>
          <a:prstGeom prst="rect">
            <a:avLst/>
          </a:prstGeom>
          <a:noFill/>
        </p:spPr>
        <p:txBody>
          <a:bodyPr wrap="square">
            <a:spAutoFit/>
          </a:bodyPr>
          <a:lstStyle/>
          <a:p>
            <a:pPr>
              <a:spcAft>
                <a:spcPts val="800"/>
              </a:spcAft>
            </a:pPr>
            <a:r>
              <a:rPr sz="1600" b="0">
                <a:solidFill>
                  <a:srgbClr val="E8ECF5"/>
                </a:solidFill>
              </a:rPr>
              <a:t>Forged payments</a:t>
            </a:r>
          </a:p>
          <a:p>
            <a:pPr>
              <a:spcAft>
                <a:spcPts val="800"/>
              </a:spcAft>
            </a:pPr>
            <a:r>
              <a:rPr sz="1600" b="0">
                <a:solidFill>
                  <a:srgbClr val="E8ECF5"/>
                </a:solidFill>
              </a:rPr>
              <a:t>Double spending</a:t>
            </a:r>
          </a:p>
          <a:p>
            <a:pPr>
              <a:spcAft>
                <a:spcPts val="800"/>
              </a:spcAft>
            </a:pPr>
            <a:r>
              <a:rPr sz="1600" b="0">
                <a:solidFill>
                  <a:srgbClr val="E8ECF5"/>
                </a:solidFill>
              </a:rPr>
              <a:t>Replayed transactions</a:t>
            </a:r>
          </a:p>
          <a:p>
            <a:pPr>
              <a:spcAft>
                <a:spcPts val="800"/>
              </a:spcAft>
            </a:pPr>
            <a:r>
              <a:rPr sz="1600" b="0">
                <a:solidFill>
                  <a:srgbClr val="E8ECF5"/>
                </a:solidFill>
              </a:rPr>
              <a:t>Rewriting past records</a:t>
            </a:r>
          </a:p>
        </p:txBody>
      </p:sp>
      <p:sp>
        <p:nvSpPr>
          <p:cNvPr id="9" name="Rounded Rectangle 8"/>
          <p:cNvSpPr/>
          <p:nvPr/>
        </p:nvSpPr>
        <p:spPr>
          <a:xfrm>
            <a:off x="7955279"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1691639"/>
            <a:ext cx="3200400" cy="548640"/>
          </a:xfrm>
          <a:prstGeom prst="rect">
            <a:avLst/>
          </a:prstGeom>
          <a:noFill/>
        </p:spPr>
        <p:txBody>
          <a:bodyPr wrap="square">
            <a:spAutoFit/>
          </a:bodyPr>
          <a:lstStyle/>
          <a:p>
            <a:pPr>
              <a:spcAft>
                <a:spcPts val="800"/>
              </a:spcAft>
            </a:pPr>
            <a:r>
              <a:rPr sz="2000" b="1">
                <a:solidFill>
                  <a:srgbClr val="34D399"/>
                </a:solidFill>
              </a:rPr>
              <a:t>Our goal</a:t>
            </a:r>
          </a:p>
        </p:txBody>
      </p:sp>
      <p:sp>
        <p:nvSpPr>
          <p:cNvPr id="11" name="TextBox 10"/>
          <p:cNvSpPr txBox="1"/>
          <p:nvPr/>
        </p:nvSpPr>
        <p:spPr>
          <a:xfrm>
            <a:off x="8138159" y="2240280"/>
            <a:ext cx="3200400" cy="3017520"/>
          </a:xfrm>
          <a:prstGeom prst="rect">
            <a:avLst/>
          </a:prstGeom>
          <a:noFill/>
        </p:spPr>
        <p:txBody>
          <a:bodyPr wrap="square">
            <a:spAutoFit/>
          </a:bodyPr>
          <a:lstStyle/>
          <a:p>
            <a:pPr>
              <a:spcAft>
                <a:spcPts val="800"/>
              </a:spcAft>
            </a:pPr>
            <a:r>
              <a:rPr sz="1600" b="0">
                <a:solidFill>
                  <a:srgbClr val="E8ECF5"/>
                </a:solidFill>
              </a:rPr>
              <a:t>Anyone can verify every coin</a:t>
            </a:r>
          </a:p>
          <a:p>
            <a:pPr>
              <a:spcAft>
                <a:spcPts val="800"/>
              </a:spcAft>
            </a:pPr>
            <a:r>
              <a:rPr sz="1600" b="0">
                <a:solidFill>
                  <a:srgbClr val="E8ECF5"/>
                </a:solidFill>
              </a:rPr>
              <a:t>No trusted operator</a:t>
            </a:r>
          </a:p>
          <a:p>
            <a:pPr>
              <a:spcAft>
                <a:spcPts val="800"/>
              </a:spcAft>
            </a:pPr>
            <a:r>
              <a:rPr sz="1600" b="0">
                <a:solidFill>
                  <a:srgbClr val="E8ECF5"/>
                </a:solidFill>
              </a:rPr>
              <a:t>Prove attacks fail – and where they don't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Solution: how MiniChain works</a:t>
            </a:r>
          </a:p>
        </p:txBody>
      </p:sp>
      <p:sp>
        <p:nvSpPr>
          <p:cNvPr id="3" name="Rounded Rectangle 2"/>
          <p:cNvSpPr/>
          <p:nvPr/>
        </p:nvSpPr>
        <p:spPr>
          <a:xfrm>
            <a:off x="457200" y="1737360"/>
            <a:ext cx="2148840" cy="29260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1783080" cy="548640"/>
          </a:xfrm>
          <a:prstGeom prst="rect">
            <a:avLst/>
          </a:prstGeom>
          <a:noFill/>
        </p:spPr>
        <p:txBody>
          <a:bodyPr wrap="square">
            <a:spAutoFit/>
          </a:bodyPr>
          <a:lstStyle/>
          <a:p>
            <a:pPr>
              <a:spcAft>
                <a:spcPts val="800"/>
              </a:spcAft>
            </a:pPr>
            <a:r>
              <a:rPr sz="2000" b="1">
                <a:solidFill>
                  <a:srgbClr val="60A5FA"/>
                </a:solidFill>
              </a:rPr>
              <a:t>1  Wallet</a:t>
            </a:r>
          </a:p>
        </p:txBody>
      </p:sp>
      <p:sp>
        <p:nvSpPr>
          <p:cNvPr id="5" name="TextBox 4"/>
          <p:cNvSpPr txBox="1"/>
          <p:nvPr/>
        </p:nvSpPr>
        <p:spPr>
          <a:xfrm>
            <a:off x="640080" y="2423160"/>
            <a:ext cx="1783080" cy="2103120"/>
          </a:xfrm>
          <a:prstGeom prst="rect">
            <a:avLst/>
          </a:prstGeom>
          <a:noFill/>
        </p:spPr>
        <p:txBody>
          <a:bodyPr wrap="square">
            <a:spAutoFit/>
          </a:bodyPr>
          <a:lstStyle/>
          <a:p>
            <a:pPr>
              <a:spcAft>
                <a:spcPts val="800"/>
              </a:spcAft>
            </a:pPr>
            <a:r>
              <a:rPr sz="1600" b="0">
                <a:solidFill>
                  <a:srgbClr val="E8ECF5"/>
                </a:solidFill>
              </a:rPr>
              <a:t>secp256k1 keys</a:t>
            </a:r>
          </a:p>
          <a:p>
            <a:pPr>
              <a:spcAft>
                <a:spcPts val="800"/>
              </a:spcAft>
            </a:pPr>
            <a:r>
              <a:rPr sz="1600" b="0">
                <a:solidFill>
                  <a:srgbClr val="E8ECF5"/>
                </a:solidFill>
              </a:rPr>
              <a:t>address = SHA-256(pubkey)</a:t>
            </a:r>
          </a:p>
        </p:txBody>
      </p:sp>
      <p:sp>
        <p:nvSpPr>
          <p:cNvPr id="6" name="Rounded Rectangle 5"/>
          <p:cNvSpPr/>
          <p:nvPr/>
        </p:nvSpPr>
        <p:spPr>
          <a:xfrm>
            <a:off x="2743200" y="1737360"/>
            <a:ext cx="2148840" cy="29260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1874519"/>
            <a:ext cx="1783080" cy="548640"/>
          </a:xfrm>
          <a:prstGeom prst="rect">
            <a:avLst/>
          </a:prstGeom>
          <a:noFill/>
        </p:spPr>
        <p:txBody>
          <a:bodyPr wrap="square">
            <a:spAutoFit/>
          </a:bodyPr>
          <a:lstStyle/>
          <a:p>
            <a:pPr>
              <a:spcAft>
                <a:spcPts val="800"/>
              </a:spcAft>
            </a:pPr>
            <a:r>
              <a:rPr sz="2000" b="1">
                <a:solidFill>
                  <a:srgbClr val="60A5FA"/>
                </a:solidFill>
              </a:rPr>
              <a:t>2  Sign</a:t>
            </a:r>
          </a:p>
        </p:txBody>
      </p:sp>
      <p:sp>
        <p:nvSpPr>
          <p:cNvPr id="8" name="TextBox 7"/>
          <p:cNvSpPr txBox="1"/>
          <p:nvPr/>
        </p:nvSpPr>
        <p:spPr>
          <a:xfrm>
            <a:off x="2926080" y="2423160"/>
            <a:ext cx="1783080" cy="2103120"/>
          </a:xfrm>
          <a:prstGeom prst="rect">
            <a:avLst/>
          </a:prstGeom>
          <a:noFill/>
        </p:spPr>
        <p:txBody>
          <a:bodyPr wrap="square">
            <a:spAutoFit/>
          </a:bodyPr>
          <a:lstStyle/>
          <a:p>
            <a:pPr>
              <a:spcAft>
                <a:spcPts val="800"/>
              </a:spcAft>
            </a:pPr>
            <a:r>
              <a:rPr sz="1600" b="0">
                <a:solidFill>
                  <a:srgbClr val="E8ECF5"/>
                </a:solidFill>
              </a:rPr>
              <a:t>ECDSA signature</a:t>
            </a:r>
          </a:p>
          <a:p>
            <a:pPr>
              <a:spcAft>
                <a:spcPts val="800"/>
              </a:spcAft>
            </a:pPr>
            <a:r>
              <a:rPr sz="1600" b="0">
                <a:solidFill>
                  <a:srgbClr val="E8ECF5"/>
                </a:solidFill>
              </a:rPr>
              <a:t>nonce = anti-replay</a:t>
            </a:r>
          </a:p>
        </p:txBody>
      </p:sp>
      <p:sp>
        <p:nvSpPr>
          <p:cNvPr id="9" name="Rounded Rectangle 8"/>
          <p:cNvSpPr/>
          <p:nvPr/>
        </p:nvSpPr>
        <p:spPr>
          <a:xfrm>
            <a:off x="5029200" y="1737360"/>
            <a:ext cx="2148840" cy="29260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874519"/>
            <a:ext cx="1783080" cy="548640"/>
          </a:xfrm>
          <a:prstGeom prst="rect">
            <a:avLst/>
          </a:prstGeom>
          <a:noFill/>
        </p:spPr>
        <p:txBody>
          <a:bodyPr wrap="square">
            <a:spAutoFit/>
          </a:bodyPr>
          <a:lstStyle/>
          <a:p>
            <a:pPr>
              <a:spcAft>
                <a:spcPts val="800"/>
              </a:spcAft>
            </a:pPr>
            <a:r>
              <a:rPr sz="2000" b="1">
                <a:solidFill>
                  <a:srgbClr val="60A5FA"/>
                </a:solidFill>
              </a:rPr>
              <a:t>3  Validate</a:t>
            </a:r>
          </a:p>
        </p:txBody>
      </p:sp>
      <p:sp>
        <p:nvSpPr>
          <p:cNvPr id="11" name="TextBox 10"/>
          <p:cNvSpPr txBox="1"/>
          <p:nvPr/>
        </p:nvSpPr>
        <p:spPr>
          <a:xfrm>
            <a:off x="5212080" y="2423160"/>
            <a:ext cx="1783080" cy="2103120"/>
          </a:xfrm>
          <a:prstGeom prst="rect">
            <a:avLst/>
          </a:prstGeom>
          <a:noFill/>
        </p:spPr>
        <p:txBody>
          <a:bodyPr wrap="square">
            <a:spAutoFit/>
          </a:bodyPr>
          <a:lstStyle/>
          <a:p>
            <a:pPr>
              <a:spcAft>
                <a:spcPts val="800"/>
              </a:spcAft>
            </a:pPr>
            <a:r>
              <a:rPr sz="1600" b="0">
                <a:solidFill>
                  <a:srgbClr val="E8ECF5"/>
                </a:solidFill>
              </a:rPr>
              <a:t>signature ✔  balance ✔</a:t>
            </a:r>
          </a:p>
          <a:p>
            <a:pPr>
              <a:spcAft>
                <a:spcPts val="800"/>
              </a:spcAft>
            </a:pPr>
            <a:r>
              <a:rPr sz="1600" b="0">
                <a:solidFill>
                  <a:srgbClr val="E8ECF5"/>
                </a:solidFill>
              </a:rPr>
              <a:t>nonce ✔</a:t>
            </a:r>
          </a:p>
        </p:txBody>
      </p:sp>
      <p:sp>
        <p:nvSpPr>
          <p:cNvPr id="12" name="Rounded Rectangle 11"/>
          <p:cNvSpPr/>
          <p:nvPr/>
        </p:nvSpPr>
        <p:spPr>
          <a:xfrm>
            <a:off x="7315200" y="1737360"/>
            <a:ext cx="2148840" cy="29260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874519"/>
            <a:ext cx="1783080" cy="548640"/>
          </a:xfrm>
          <a:prstGeom prst="rect">
            <a:avLst/>
          </a:prstGeom>
          <a:noFill/>
        </p:spPr>
        <p:txBody>
          <a:bodyPr wrap="square">
            <a:spAutoFit/>
          </a:bodyPr>
          <a:lstStyle/>
          <a:p>
            <a:pPr>
              <a:spcAft>
                <a:spcPts val="800"/>
              </a:spcAft>
            </a:pPr>
            <a:r>
              <a:rPr sz="2000" b="1">
                <a:solidFill>
                  <a:srgbClr val="60A5FA"/>
                </a:solidFill>
              </a:rPr>
              <a:t>4  Mine</a:t>
            </a:r>
          </a:p>
        </p:txBody>
      </p:sp>
      <p:sp>
        <p:nvSpPr>
          <p:cNvPr id="14" name="TextBox 13"/>
          <p:cNvSpPr txBox="1"/>
          <p:nvPr/>
        </p:nvSpPr>
        <p:spPr>
          <a:xfrm>
            <a:off x="7498079" y="2423160"/>
            <a:ext cx="1783080" cy="2103120"/>
          </a:xfrm>
          <a:prstGeom prst="rect">
            <a:avLst/>
          </a:prstGeom>
          <a:noFill/>
        </p:spPr>
        <p:txBody>
          <a:bodyPr wrap="square">
            <a:spAutoFit/>
          </a:bodyPr>
          <a:lstStyle/>
          <a:p>
            <a:pPr>
              <a:spcAft>
                <a:spcPts val="800"/>
              </a:spcAft>
            </a:pPr>
            <a:r>
              <a:rPr sz="1600" b="0">
                <a:solidFill>
                  <a:srgbClr val="E8ECF5"/>
                </a:solidFill>
              </a:rPr>
              <a:t>Merkle root of txs</a:t>
            </a:r>
          </a:p>
          <a:p>
            <a:pPr>
              <a:spcAft>
                <a:spcPts val="800"/>
              </a:spcAft>
            </a:pPr>
            <a:r>
              <a:rPr sz="1600" b="0">
                <a:solidFill>
                  <a:srgbClr val="E8ECF5"/>
                </a:solidFill>
              </a:rPr>
              <a:t>reward + fees to miner</a:t>
            </a:r>
          </a:p>
          <a:p>
            <a:pPr>
              <a:spcAft>
                <a:spcPts val="800"/>
              </a:spcAft>
            </a:pPr>
            <a:r>
              <a:rPr sz="1600" b="0">
                <a:solidFill>
                  <a:srgbClr val="E8ECF5"/>
                </a:solidFill>
              </a:rPr>
              <a:t>proof-of-work</a:t>
            </a:r>
          </a:p>
        </p:txBody>
      </p:sp>
      <p:sp>
        <p:nvSpPr>
          <p:cNvPr id="15" name="Rounded Rectangle 14"/>
          <p:cNvSpPr/>
          <p:nvPr/>
        </p:nvSpPr>
        <p:spPr>
          <a:xfrm>
            <a:off x="9601200" y="1737360"/>
            <a:ext cx="2148840" cy="29260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0" y="1874519"/>
            <a:ext cx="1783080" cy="548640"/>
          </a:xfrm>
          <a:prstGeom prst="rect">
            <a:avLst/>
          </a:prstGeom>
          <a:noFill/>
        </p:spPr>
        <p:txBody>
          <a:bodyPr wrap="square">
            <a:spAutoFit/>
          </a:bodyPr>
          <a:lstStyle/>
          <a:p>
            <a:pPr>
              <a:spcAft>
                <a:spcPts val="800"/>
              </a:spcAft>
            </a:pPr>
            <a:r>
              <a:rPr sz="2000" b="1">
                <a:solidFill>
                  <a:srgbClr val="60A5FA"/>
                </a:solidFill>
              </a:rPr>
              <a:t>5  Chain</a:t>
            </a:r>
          </a:p>
        </p:txBody>
      </p:sp>
      <p:sp>
        <p:nvSpPr>
          <p:cNvPr id="17" name="TextBox 16"/>
          <p:cNvSpPr txBox="1"/>
          <p:nvPr/>
        </p:nvSpPr>
        <p:spPr>
          <a:xfrm>
            <a:off x="9784080" y="2423160"/>
            <a:ext cx="1783080" cy="2103120"/>
          </a:xfrm>
          <a:prstGeom prst="rect">
            <a:avLst/>
          </a:prstGeom>
          <a:noFill/>
        </p:spPr>
        <p:txBody>
          <a:bodyPr wrap="square">
            <a:spAutoFit/>
          </a:bodyPr>
          <a:lstStyle/>
          <a:p>
            <a:pPr>
              <a:spcAft>
                <a:spcPts val="800"/>
              </a:spcAft>
            </a:pPr>
            <a:r>
              <a:rPr sz="1600" b="0">
                <a:solidFill>
                  <a:srgbClr val="E8ECF5"/>
                </a:solidFill>
              </a:rPr>
              <a:t>hash links to previous</a:t>
            </a:r>
          </a:p>
          <a:p>
            <a:pPr>
              <a:spcAft>
                <a:spcPts val="800"/>
              </a:spcAft>
            </a:pPr>
            <a:r>
              <a:rPr sz="1600" b="0">
                <a:solidFill>
                  <a:srgbClr val="E8ECF5"/>
                </a:solidFill>
              </a:rPr>
              <a:t>longest work wins</a:t>
            </a:r>
          </a:p>
        </p:txBody>
      </p:sp>
      <p:sp>
        <p:nvSpPr>
          <p:cNvPr id="18" name="TextBox 17"/>
          <p:cNvSpPr txBox="1"/>
          <p:nvPr/>
        </p:nvSpPr>
        <p:spPr>
          <a:xfrm>
            <a:off x="640080" y="5120640"/>
            <a:ext cx="10972800" cy="914400"/>
          </a:xfrm>
          <a:prstGeom prst="rect">
            <a:avLst/>
          </a:prstGeom>
          <a:noFill/>
        </p:spPr>
        <p:txBody>
          <a:bodyPr wrap="square">
            <a:spAutoFit/>
          </a:bodyPr>
          <a:lstStyle/>
          <a:p>
            <a:pPr>
              <a:spcAft>
                <a:spcPts val="800"/>
              </a:spcAft>
            </a:pPr>
            <a:r>
              <a:rPr sz="2000" b="0">
                <a:solidFill>
                  <a:srgbClr val="8A95AD"/>
                </a:solidFill>
              </a:rPr>
              <a:t>Built from scratch in Node.js – zero dependencies · fees · 3-node network · 18 automated tests · live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Attack lab: what we tried to break</a:t>
            </a:r>
          </a:p>
        </p:txBody>
      </p:sp>
      <p:sp>
        <p:nvSpPr>
          <p:cNvPr id="3" name="TextBox 2"/>
          <p:cNvSpPr txBox="1"/>
          <p:nvPr/>
        </p:nvSpPr>
        <p:spPr>
          <a:xfrm>
            <a:off x="640080" y="1463040"/>
            <a:ext cx="3840480" cy="548640"/>
          </a:xfrm>
          <a:prstGeom prst="rect">
            <a:avLst/>
          </a:prstGeom>
          <a:noFill/>
        </p:spPr>
        <p:txBody>
          <a:bodyPr wrap="square">
            <a:spAutoFit/>
          </a:bodyPr>
          <a:lstStyle/>
          <a:p>
            <a:pPr>
              <a:spcAft>
                <a:spcPts val="800"/>
              </a:spcAft>
            </a:pPr>
            <a:r>
              <a:rPr sz="2000" b="1">
                <a:solidFill>
                  <a:srgbClr val="E8ECF5"/>
                </a:solidFill>
              </a:rPr>
              <a:t>Forged sender</a:t>
            </a:r>
          </a:p>
        </p:txBody>
      </p:sp>
      <p:sp>
        <p:nvSpPr>
          <p:cNvPr id="4" name="TextBox 3"/>
          <p:cNvSpPr txBox="1"/>
          <p:nvPr/>
        </p:nvSpPr>
        <p:spPr>
          <a:xfrm>
            <a:off x="4572000" y="1463040"/>
            <a:ext cx="2926080" cy="548640"/>
          </a:xfrm>
          <a:prstGeom prst="rect">
            <a:avLst/>
          </a:prstGeom>
          <a:noFill/>
        </p:spPr>
        <p:txBody>
          <a:bodyPr wrap="square">
            <a:spAutoFit/>
          </a:bodyPr>
          <a:lstStyle/>
          <a:p>
            <a:pPr>
              <a:spcAft>
                <a:spcPts val="800"/>
              </a:spcAft>
            </a:pPr>
            <a:r>
              <a:rPr sz="2000" b="1">
                <a:solidFill>
                  <a:srgbClr val="34D399"/>
                </a:solidFill>
              </a:rPr>
              <a:t>Rejected</a:t>
            </a:r>
          </a:p>
        </p:txBody>
      </p:sp>
      <p:sp>
        <p:nvSpPr>
          <p:cNvPr id="5" name="TextBox 4"/>
          <p:cNvSpPr txBox="1"/>
          <p:nvPr/>
        </p:nvSpPr>
        <p:spPr>
          <a:xfrm>
            <a:off x="7498079" y="1463040"/>
            <a:ext cx="4389120" cy="548640"/>
          </a:xfrm>
          <a:prstGeom prst="rect">
            <a:avLst/>
          </a:prstGeom>
          <a:noFill/>
        </p:spPr>
        <p:txBody>
          <a:bodyPr wrap="square">
            <a:spAutoFit/>
          </a:bodyPr>
          <a:lstStyle/>
          <a:p>
            <a:pPr>
              <a:spcAft>
                <a:spcPts val="800"/>
              </a:spcAft>
            </a:pPr>
            <a:r>
              <a:rPr sz="1800" b="0">
                <a:solidFill>
                  <a:srgbClr val="8A95AD"/>
                </a:solidFill>
              </a:rPr>
              <a:t>key must hash to address</a:t>
            </a:r>
          </a:p>
        </p:txBody>
      </p:sp>
      <p:sp>
        <p:nvSpPr>
          <p:cNvPr id="6" name="TextBox 5"/>
          <p:cNvSpPr txBox="1"/>
          <p:nvPr/>
        </p:nvSpPr>
        <p:spPr>
          <a:xfrm>
            <a:off x="640080" y="2240280"/>
            <a:ext cx="3840480" cy="548640"/>
          </a:xfrm>
          <a:prstGeom prst="rect">
            <a:avLst/>
          </a:prstGeom>
          <a:noFill/>
        </p:spPr>
        <p:txBody>
          <a:bodyPr wrap="square">
            <a:spAutoFit/>
          </a:bodyPr>
          <a:lstStyle/>
          <a:p>
            <a:pPr>
              <a:spcAft>
                <a:spcPts val="800"/>
              </a:spcAft>
            </a:pPr>
            <a:r>
              <a:rPr sz="2000" b="1">
                <a:solidFill>
                  <a:srgbClr val="E8ECF5"/>
                </a:solidFill>
              </a:rPr>
              <a:t>Double spend</a:t>
            </a:r>
          </a:p>
        </p:txBody>
      </p:sp>
      <p:sp>
        <p:nvSpPr>
          <p:cNvPr id="7" name="TextBox 6"/>
          <p:cNvSpPr txBox="1"/>
          <p:nvPr/>
        </p:nvSpPr>
        <p:spPr>
          <a:xfrm>
            <a:off x="4572000" y="2240280"/>
            <a:ext cx="2926080" cy="548640"/>
          </a:xfrm>
          <a:prstGeom prst="rect">
            <a:avLst/>
          </a:prstGeom>
          <a:noFill/>
        </p:spPr>
        <p:txBody>
          <a:bodyPr wrap="square">
            <a:spAutoFit/>
          </a:bodyPr>
          <a:lstStyle/>
          <a:p>
            <a:pPr>
              <a:spcAft>
                <a:spcPts val="800"/>
              </a:spcAft>
            </a:pPr>
            <a:r>
              <a:rPr sz="2000" b="1">
                <a:solidFill>
                  <a:srgbClr val="34D399"/>
                </a:solidFill>
              </a:rPr>
              <a:t>Rejected</a:t>
            </a:r>
          </a:p>
        </p:txBody>
      </p:sp>
      <p:sp>
        <p:nvSpPr>
          <p:cNvPr id="8" name="TextBox 7"/>
          <p:cNvSpPr txBox="1"/>
          <p:nvPr/>
        </p:nvSpPr>
        <p:spPr>
          <a:xfrm>
            <a:off x="7498079" y="2240280"/>
            <a:ext cx="4389120" cy="548640"/>
          </a:xfrm>
          <a:prstGeom prst="rect">
            <a:avLst/>
          </a:prstGeom>
          <a:noFill/>
        </p:spPr>
        <p:txBody>
          <a:bodyPr wrap="square">
            <a:spAutoFit/>
          </a:bodyPr>
          <a:lstStyle/>
          <a:p>
            <a:pPr>
              <a:spcAft>
                <a:spcPts val="800"/>
              </a:spcAft>
            </a:pPr>
            <a:r>
              <a:rPr sz="1800" b="0">
                <a:solidFill>
                  <a:srgbClr val="8A95AD"/>
                </a:solidFill>
              </a:rPr>
              <a:t>nonce + balance</a:t>
            </a:r>
          </a:p>
        </p:txBody>
      </p:sp>
      <p:sp>
        <p:nvSpPr>
          <p:cNvPr id="9" name="TextBox 8"/>
          <p:cNvSpPr txBox="1"/>
          <p:nvPr/>
        </p:nvSpPr>
        <p:spPr>
          <a:xfrm>
            <a:off x="640080" y="3017520"/>
            <a:ext cx="3840480" cy="548640"/>
          </a:xfrm>
          <a:prstGeom prst="rect">
            <a:avLst/>
          </a:prstGeom>
          <a:noFill/>
        </p:spPr>
        <p:txBody>
          <a:bodyPr wrap="square">
            <a:spAutoFit/>
          </a:bodyPr>
          <a:lstStyle/>
          <a:p>
            <a:pPr>
              <a:spcAft>
                <a:spcPts val="800"/>
              </a:spcAft>
            </a:pPr>
            <a:r>
              <a:rPr sz="2000" b="1">
                <a:solidFill>
                  <a:srgbClr val="E8ECF5"/>
                </a:solidFill>
              </a:rPr>
              <a:t>Replay</a:t>
            </a:r>
          </a:p>
        </p:txBody>
      </p:sp>
      <p:sp>
        <p:nvSpPr>
          <p:cNvPr id="10" name="TextBox 9"/>
          <p:cNvSpPr txBox="1"/>
          <p:nvPr/>
        </p:nvSpPr>
        <p:spPr>
          <a:xfrm>
            <a:off x="4572000" y="3017520"/>
            <a:ext cx="2926080" cy="548640"/>
          </a:xfrm>
          <a:prstGeom prst="rect">
            <a:avLst/>
          </a:prstGeom>
          <a:noFill/>
        </p:spPr>
        <p:txBody>
          <a:bodyPr wrap="square">
            <a:spAutoFit/>
          </a:bodyPr>
          <a:lstStyle/>
          <a:p>
            <a:pPr>
              <a:spcAft>
                <a:spcPts val="800"/>
              </a:spcAft>
            </a:pPr>
            <a:r>
              <a:rPr sz="2000" b="1">
                <a:solidFill>
                  <a:srgbClr val="34D399"/>
                </a:solidFill>
              </a:rPr>
              <a:t>Rejected</a:t>
            </a:r>
          </a:p>
        </p:txBody>
      </p:sp>
      <p:sp>
        <p:nvSpPr>
          <p:cNvPr id="11" name="TextBox 10"/>
          <p:cNvSpPr txBox="1"/>
          <p:nvPr/>
        </p:nvSpPr>
        <p:spPr>
          <a:xfrm>
            <a:off x="7498079" y="3017520"/>
            <a:ext cx="4389120" cy="548640"/>
          </a:xfrm>
          <a:prstGeom prst="rect">
            <a:avLst/>
          </a:prstGeom>
          <a:noFill/>
        </p:spPr>
        <p:txBody>
          <a:bodyPr wrap="square">
            <a:spAutoFit/>
          </a:bodyPr>
          <a:lstStyle/>
          <a:p>
            <a:pPr>
              <a:spcAft>
                <a:spcPts val="800"/>
              </a:spcAft>
            </a:pPr>
            <a:r>
              <a:rPr sz="1800" b="0">
                <a:solidFill>
                  <a:srgbClr val="8A95AD"/>
                </a:solidFill>
              </a:rPr>
              <a:t>nonce consumed</a:t>
            </a:r>
          </a:p>
        </p:txBody>
      </p:sp>
      <p:sp>
        <p:nvSpPr>
          <p:cNvPr id="12" name="TextBox 11"/>
          <p:cNvSpPr txBox="1"/>
          <p:nvPr/>
        </p:nvSpPr>
        <p:spPr>
          <a:xfrm>
            <a:off x="640080" y="3794760"/>
            <a:ext cx="3840480" cy="548640"/>
          </a:xfrm>
          <a:prstGeom prst="rect">
            <a:avLst/>
          </a:prstGeom>
          <a:noFill/>
        </p:spPr>
        <p:txBody>
          <a:bodyPr wrap="square">
            <a:spAutoFit/>
          </a:bodyPr>
          <a:lstStyle/>
          <a:p>
            <a:pPr>
              <a:spcAft>
                <a:spcPts val="800"/>
              </a:spcAft>
            </a:pPr>
            <a:r>
              <a:rPr sz="2000" b="1">
                <a:solidFill>
                  <a:srgbClr val="E8ECF5"/>
                </a:solidFill>
              </a:rPr>
              <a:t>Tamper old block</a:t>
            </a:r>
          </a:p>
        </p:txBody>
      </p:sp>
      <p:sp>
        <p:nvSpPr>
          <p:cNvPr id="13" name="TextBox 12"/>
          <p:cNvSpPr txBox="1"/>
          <p:nvPr/>
        </p:nvSpPr>
        <p:spPr>
          <a:xfrm>
            <a:off x="4572000" y="3794760"/>
            <a:ext cx="2926080" cy="548640"/>
          </a:xfrm>
          <a:prstGeom prst="rect">
            <a:avLst/>
          </a:prstGeom>
          <a:noFill/>
        </p:spPr>
        <p:txBody>
          <a:bodyPr wrap="square">
            <a:spAutoFit/>
          </a:bodyPr>
          <a:lstStyle/>
          <a:p>
            <a:pPr>
              <a:spcAft>
                <a:spcPts val="800"/>
              </a:spcAft>
            </a:pPr>
            <a:r>
              <a:rPr sz="2000" b="1">
                <a:solidFill>
                  <a:srgbClr val="34D399"/>
                </a:solidFill>
              </a:rPr>
              <a:t>Detected at block #</a:t>
            </a:r>
          </a:p>
        </p:txBody>
      </p:sp>
      <p:sp>
        <p:nvSpPr>
          <p:cNvPr id="14" name="TextBox 13"/>
          <p:cNvSpPr txBox="1"/>
          <p:nvPr/>
        </p:nvSpPr>
        <p:spPr>
          <a:xfrm>
            <a:off x="7498079" y="3794760"/>
            <a:ext cx="4389120" cy="548640"/>
          </a:xfrm>
          <a:prstGeom prst="rect">
            <a:avLst/>
          </a:prstGeom>
          <a:noFill/>
        </p:spPr>
        <p:txBody>
          <a:bodyPr wrap="square">
            <a:spAutoFit/>
          </a:bodyPr>
          <a:lstStyle/>
          <a:p>
            <a:pPr>
              <a:spcAft>
                <a:spcPts val="800"/>
              </a:spcAft>
            </a:pPr>
            <a:r>
              <a:rPr sz="1800" b="0">
                <a:solidFill>
                  <a:srgbClr val="8A95AD"/>
                </a:solidFill>
              </a:rPr>
              <a:t>Merkle root / hash / link break</a:t>
            </a:r>
          </a:p>
        </p:txBody>
      </p:sp>
      <p:sp>
        <p:nvSpPr>
          <p:cNvPr id="15" name="TextBox 14"/>
          <p:cNvSpPr txBox="1"/>
          <p:nvPr/>
        </p:nvSpPr>
        <p:spPr>
          <a:xfrm>
            <a:off x="640080" y="4572000"/>
            <a:ext cx="3840480" cy="548640"/>
          </a:xfrm>
          <a:prstGeom prst="rect">
            <a:avLst/>
          </a:prstGeom>
          <a:noFill/>
        </p:spPr>
        <p:txBody>
          <a:bodyPr wrap="square">
            <a:spAutoFit/>
          </a:bodyPr>
          <a:lstStyle/>
          <a:p>
            <a:pPr>
              <a:spcAft>
                <a:spcPts val="800"/>
              </a:spcAft>
            </a:pPr>
            <a:r>
              <a:rPr sz="2000" b="1">
                <a:solidFill>
                  <a:srgbClr val="E8ECF5"/>
                </a:solidFill>
              </a:rPr>
              <a:t>51% – small attacker</a:t>
            </a:r>
          </a:p>
        </p:txBody>
      </p:sp>
      <p:sp>
        <p:nvSpPr>
          <p:cNvPr id="16" name="TextBox 15"/>
          <p:cNvSpPr txBox="1"/>
          <p:nvPr/>
        </p:nvSpPr>
        <p:spPr>
          <a:xfrm>
            <a:off x="4572000" y="4572000"/>
            <a:ext cx="2926080" cy="548640"/>
          </a:xfrm>
          <a:prstGeom prst="rect">
            <a:avLst/>
          </a:prstGeom>
          <a:noFill/>
        </p:spPr>
        <p:txBody>
          <a:bodyPr wrap="square">
            <a:spAutoFit/>
          </a:bodyPr>
          <a:lstStyle/>
          <a:p>
            <a:pPr>
              <a:spcAft>
                <a:spcPts val="800"/>
              </a:spcAft>
            </a:pPr>
            <a:r>
              <a:rPr sz="2000" b="1">
                <a:solidFill>
                  <a:srgbClr val="34D399"/>
                </a:solidFill>
              </a:rPr>
              <a:t>Rejected</a:t>
            </a:r>
          </a:p>
        </p:txBody>
      </p:sp>
      <p:sp>
        <p:nvSpPr>
          <p:cNvPr id="17" name="TextBox 16"/>
          <p:cNvSpPr txBox="1"/>
          <p:nvPr/>
        </p:nvSpPr>
        <p:spPr>
          <a:xfrm>
            <a:off x="7498079" y="4572000"/>
            <a:ext cx="4389120" cy="548640"/>
          </a:xfrm>
          <a:prstGeom prst="rect">
            <a:avLst/>
          </a:prstGeom>
          <a:noFill/>
        </p:spPr>
        <p:txBody>
          <a:bodyPr wrap="square">
            <a:spAutoFit/>
          </a:bodyPr>
          <a:lstStyle/>
          <a:p>
            <a:pPr>
              <a:spcAft>
                <a:spcPts val="800"/>
              </a:spcAft>
            </a:pPr>
            <a:r>
              <a:rPr sz="1800" b="0">
                <a:solidFill>
                  <a:srgbClr val="8A95AD"/>
                </a:solidFill>
              </a:rPr>
              <a:t>less cumulative work</a:t>
            </a:r>
          </a:p>
        </p:txBody>
      </p:sp>
      <p:sp>
        <p:nvSpPr>
          <p:cNvPr id="18" name="TextBox 17"/>
          <p:cNvSpPr txBox="1"/>
          <p:nvPr/>
        </p:nvSpPr>
        <p:spPr>
          <a:xfrm>
            <a:off x="640080" y="5349240"/>
            <a:ext cx="3840480" cy="548640"/>
          </a:xfrm>
          <a:prstGeom prst="rect">
            <a:avLst/>
          </a:prstGeom>
          <a:noFill/>
        </p:spPr>
        <p:txBody>
          <a:bodyPr wrap="square">
            <a:spAutoFit/>
          </a:bodyPr>
          <a:lstStyle/>
          <a:p>
            <a:pPr>
              <a:spcAft>
                <a:spcPts val="800"/>
              </a:spcAft>
            </a:pPr>
            <a:r>
              <a:rPr sz="2000" b="1">
                <a:solidFill>
                  <a:srgbClr val="E8ECF5"/>
                </a:solidFill>
              </a:rPr>
              <a:t>51% – majority attacker</a:t>
            </a:r>
          </a:p>
        </p:txBody>
      </p:sp>
      <p:sp>
        <p:nvSpPr>
          <p:cNvPr id="19" name="TextBox 18"/>
          <p:cNvSpPr txBox="1"/>
          <p:nvPr/>
        </p:nvSpPr>
        <p:spPr>
          <a:xfrm>
            <a:off x="4572000" y="5349240"/>
            <a:ext cx="2926080" cy="548640"/>
          </a:xfrm>
          <a:prstGeom prst="rect">
            <a:avLst/>
          </a:prstGeom>
          <a:noFill/>
        </p:spPr>
        <p:txBody>
          <a:bodyPr wrap="square">
            <a:spAutoFit/>
          </a:bodyPr>
          <a:lstStyle/>
          <a:p>
            <a:pPr>
              <a:spcAft>
                <a:spcPts val="800"/>
              </a:spcAft>
            </a:pPr>
            <a:r>
              <a:rPr sz="2000" b="1">
                <a:solidFill>
                  <a:srgbClr val="F87171"/>
                </a:solidFill>
              </a:rPr>
              <a:t>SUCCEEDS</a:t>
            </a:r>
          </a:p>
        </p:txBody>
      </p:sp>
      <p:sp>
        <p:nvSpPr>
          <p:cNvPr id="20" name="TextBox 19"/>
          <p:cNvSpPr txBox="1"/>
          <p:nvPr/>
        </p:nvSpPr>
        <p:spPr>
          <a:xfrm>
            <a:off x="7498079" y="5349240"/>
            <a:ext cx="4389120" cy="548640"/>
          </a:xfrm>
          <a:prstGeom prst="rect">
            <a:avLst/>
          </a:prstGeom>
          <a:noFill/>
        </p:spPr>
        <p:txBody>
          <a:bodyPr wrap="square">
            <a:spAutoFit/>
          </a:bodyPr>
          <a:lstStyle/>
          <a:p>
            <a:pPr>
              <a:spcAft>
                <a:spcPts val="800"/>
              </a:spcAft>
            </a:pPr>
            <a:r>
              <a:rPr sz="1800" b="0">
                <a:solidFill>
                  <a:srgbClr val="8A95AD"/>
                </a:solidFill>
              </a:rPr>
              <a:t>history rewritten – PoW limit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A real network, not one program</a:t>
            </a:r>
          </a:p>
        </p:txBody>
      </p:sp>
      <p:sp>
        <p:nvSpPr>
          <p:cNvPr id="3" name="Rounded Rectangle 2"/>
          <p:cNvSpPr/>
          <p:nvPr/>
        </p:nvSpPr>
        <p:spPr>
          <a:xfrm>
            <a:off x="640080"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91639"/>
            <a:ext cx="3200400" cy="548640"/>
          </a:xfrm>
          <a:prstGeom prst="rect">
            <a:avLst/>
          </a:prstGeom>
          <a:noFill/>
        </p:spPr>
        <p:txBody>
          <a:bodyPr wrap="square">
            <a:spAutoFit/>
          </a:bodyPr>
          <a:lstStyle/>
          <a:p>
            <a:pPr>
              <a:spcAft>
                <a:spcPts val="800"/>
              </a:spcAft>
            </a:pPr>
            <a:r>
              <a:rPr sz="2000" b="1">
                <a:solidFill>
                  <a:srgbClr val="60A5FA"/>
                </a:solidFill>
              </a:rPr>
              <a:t>Gossip</a:t>
            </a:r>
          </a:p>
        </p:txBody>
      </p:sp>
      <p:sp>
        <p:nvSpPr>
          <p:cNvPr id="5" name="TextBox 4"/>
          <p:cNvSpPr txBox="1"/>
          <p:nvPr/>
        </p:nvSpPr>
        <p:spPr>
          <a:xfrm>
            <a:off x="822959" y="2240280"/>
            <a:ext cx="3200400" cy="3017520"/>
          </a:xfrm>
          <a:prstGeom prst="rect">
            <a:avLst/>
          </a:prstGeom>
          <a:noFill/>
        </p:spPr>
        <p:txBody>
          <a:bodyPr wrap="square">
            <a:spAutoFit/>
          </a:bodyPr>
          <a:lstStyle/>
          <a:p>
            <a:pPr>
              <a:spcAft>
                <a:spcPts val="800"/>
              </a:spcAft>
            </a:pPr>
            <a:r>
              <a:rPr sz="1600" b="0">
                <a:solidFill>
                  <a:srgbClr val="E8ECF5"/>
                </a:solidFill>
              </a:rPr>
              <a:t>Transactions and blocks spread peer to peer</a:t>
            </a:r>
          </a:p>
          <a:p>
            <a:pPr>
              <a:spcAft>
                <a:spcPts val="800"/>
              </a:spcAft>
            </a:pPr>
            <a:r>
              <a:rPr sz="1600" b="0">
                <a:solidFill>
                  <a:srgbClr val="E8ECF5"/>
                </a:solidFill>
              </a:rPr>
              <a:t>Every node re-validates everything</a:t>
            </a:r>
          </a:p>
          <a:p>
            <a:pPr>
              <a:spcAft>
                <a:spcPts val="800"/>
              </a:spcAft>
            </a:pPr>
            <a:r>
              <a:rPr sz="1600" b="0">
                <a:solidFill>
                  <a:srgbClr val="E8ECF5"/>
                </a:solidFill>
              </a:rPr>
              <a:t>Late joiners download and verify the chain</a:t>
            </a:r>
          </a:p>
        </p:txBody>
      </p:sp>
      <p:sp>
        <p:nvSpPr>
          <p:cNvPr id="6" name="Rounded Rectangle 5"/>
          <p:cNvSpPr/>
          <p:nvPr/>
        </p:nvSpPr>
        <p:spPr>
          <a:xfrm>
            <a:off x="4297680"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691639"/>
            <a:ext cx="3200400" cy="548640"/>
          </a:xfrm>
          <a:prstGeom prst="rect">
            <a:avLst/>
          </a:prstGeom>
          <a:noFill/>
        </p:spPr>
        <p:txBody>
          <a:bodyPr wrap="square">
            <a:spAutoFit/>
          </a:bodyPr>
          <a:lstStyle/>
          <a:p>
            <a:pPr>
              <a:spcAft>
                <a:spcPts val="800"/>
              </a:spcAft>
            </a:pPr>
            <a:r>
              <a:rPr sz="2000" b="1">
                <a:solidFill>
                  <a:srgbClr val="F87171"/>
                </a:solidFill>
              </a:rPr>
              <a:t>Network split</a:t>
            </a:r>
          </a:p>
        </p:txBody>
      </p:sp>
      <p:sp>
        <p:nvSpPr>
          <p:cNvPr id="8" name="TextBox 7"/>
          <p:cNvSpPr txBox="1"/>
          <p:nvPr/>
        </p:nvSpPr>
        <p:spPr>
          <a:xfrm>
            <a:off x="4480560" y="2240280"/>
            <a:ext cx="3200400" cy="3017520"/>
          </a:xfrm>
          <a:prstGeom prst="rect">
            <a:avLst/>
          </a:prstGeom>
          <a:noFill/>
        </p:spPr>
        <p:txBody>
          <a:bodyPr wrap="square">
            <a:spAutoFit/>
          </a:bodyPr>
          <a:lstStyle/>
          <a:p>
            <a:pPr>
              <a:spcAft>
                <a:spcPts val="800"/>
              </a:spcAft>
            </a:pPr>
            <a:r>
              <a:rPr sz="1600" b="0">
                <a:solidFill>
                  <a:srgbClr val="E8ECF5"/>
                </a:solidFill>
              </a:rPr>
              <a:t>Peer C cut off, mines 3 blocks</a:t>
            </a:r>
          </a:p>
          <a:p>
            <a:pPr>
              <a:spcAft>
                <a:spcPts val="800"/>
              </a:spcAft>
            </a:pPr>
            <a:r>
              <a:rPr sz="1600" b="0">
                <a:solidFill>
                  <a:srgbClr val="E8ECF5"/>
                </a:solidFill>
              </a:rPr>
              <a:t>Peers A + B mine 1 block</a:t>
            </a:r>
          </a:p>
          <a:p>
            <a:pPr>
              <a:spcAft>
                <a:spcPts val="800"/>
              </a:spcAft>
            </a:pPr>
            <a:r>
              <a:rPr sz="1600" b="0">
                <a:solidFill>
                  <a:srgbClr val="E8ECF5"/>
                </a:solidFill>
              </a:rPr>
              <a:t>Two competing histories</a:t>
            </a:r>
          </a:p>
        </p:txBody>
      </p:sp>
      <p:sp>
        <p:nvSpPr>
          <p:cNvPr id="9" name="Rounded Rectangle 8"/>
          <p:cNvSpPr/>
          <p:nvPr/>
        </p:nvSpPr>
        <p:spPr>
          <a:xfrm>
            <a:off x="7955279" y="1554480"/>
            <a:ext cx="3566160" cy="384048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1691639"/>
            <a:ext cx="3200400" cy="548640"/>
          </a:xfrm>
          <a:prstGeom prst="rect">
            <a:avLst/>
          </a:prstGeom>
          <a:noFill/>
        </p:spPr>
        <p:txBody>
          <a:bodyPr wrap="square">
            <a:spAutoFit/>
          </a:bodyPr>
          <a:lstStyle/>
          <a:p>
            <a:pPr>
              <a:spcAft>
                <a:spcPts val="800"/>
              </a:spcAft>
            </a:pPr>
            <a:r>
              <a:rPr sz="2000" b="1">
                <a:solidFill>
                  <a:srgbClr val="34D399"/>
                </a:solidFill>
              </a:rPr>
              <a:t>Reconnect</a:t>
            </a:r>
          </a:p>
        </p:txBody>
      </p:sp>
      <p:sp>
        <p:nvSpPr>
          <p:cNvPr id="11" name="TextBox 10"/>
          <p:cNvSpPr txBox="1"/>
          <p:nvPr/>
        </p:nvSpPr>
        <p:spPr>
          <a:xfrm>
            <a:off x="8138159" y="2240280"/>
            <a:ext cx="3200400" cy="3017520"/>
          </a:xfrm>
          <a:prstGeom prst="rect">
            <a:avLst/>
          </a:prstGeom>
          <a:noFill/>
        </p:spPr>
        <p:txBody>
          <a:bodyPr wrap="square">
            <a:spAutoFit/>
          </a:bodyPr>
          <a:lstStyle/>
          <a:p>
            <a:pPr>
              <a:spcAft>
                <a:spcPts val="800"/>
              </a:spcAft>
            </a:pPr>
            <a:r>
              <a:rPr sz="1600" b="0">
                <a:solidFill>
                  <a:srgbClr val="E8ECF5"/>
                </a:solidFill>
              </a:rPr>
              <a:t>Most cumulative work wins</a:t>
            </a:r>
          </a:p>
          <a:p>
            <a:pPr>
              <a:spcAft>
                <a:spcPts val="800"/>
              </a:spcAft>
            </a:pPr>
            <a:r>
              <a:rPr sz="1600" b="0">
                <a:solidFill>
                  <a:srgbClr val="E8ECF5"/>
                </a:solidFill>
              </a:rPr>
              <a:t>All nodes end on the same head hash</a:t>
            </a:r>
          </a:p>
          <a:p>
            <a:pPr>
              <a:spcAft>
                <a:spcPts val="800"/>
              </a:spcAft>
            </a:pPr>
            <a:r>
              <a:rPr sz="1600" b="0">
                <a:solidFill>
                  <a:srgbClr val="E8ECF5"/>
                </a:solidFill>
              </a:rPr>
              <a:t>Orphaned payments return to the mempool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Demo &amp; results</a:t>
            </a:r>
          </a:p>
        </p:txBody>
      </p:sp>
      <p:sp>
        <p:nvSpPr>
          <p:cNvPr id="3" name="Rounded Rectangle 2"/>
          <p:cNvSpPr/>
          <p:nvPr/>
        </p:nvSpPr>
        <p:spPr>
          <a:xfrm>
            <a:off x="640080" y="1554480"/>
            <a:ext cx="5394960" cy="329184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91639"/>
            <a:ext cx="5029200" cy="548640"/>
          </a:xfrm>
          <a:prstGeom prst="rect">
            <a:avLst/>
          </a:prstGeom>
          <a:noFill/>
        </p:spPr>
        <p:txBody>
          <a:bodyPr wrap="square">
            <a:spAutoFit/>
          </a:bodyPr>
          <a:lstStyle/>
          <a:p>
            <a:pPr>
              <a:spcAft>
                <a:spcPts val="800"/>
              </a:spcAft>
            </a:pPr>
            <a:r>
              <a:rPr sz="2000" b="1">
                <a:solidFill>
                  <a:srgbClr val="60A5FA"/>
                </a:solidFill>
              </a:rPr>
              <a:t>Live dashboard</a:t>
            </a:r>
          </a:p>
        </p:txBody>
      </p:sp>
      <p:sp>
        <p:nvSpPr>
          <p:cNvPr id="5" name="TextBox 4"/>
          <p:cNvSpPr txBox="1"/>
          <p:nvPr/>
        </p:nvSpPr>
        <p:spPr>
          <a:xfrm>
            <a:off x="822959" y="2240280"/>
            <a:ext cx="5029200" cy="2468880"/>
          </a:xfrm>
          <a:prstGeom prst="rect">
            <a:avLst/>
          </a:prstGeom>
          <a:noFill/>
        </p:spPr>
        <p:txBody>
          <a:bodyPr wrap="square">
            <a:spAutoFit/>
          </a:bodyPr>
          <a:lstStyle/>
          <a:p>
            <a:pPr>
              <a:spcAft>
                <a:spcPts val="800"/>
              </a:spcAft>
            </a:pPr>
            <a:r>
              <a:rPr sz="1600" b="0">
                <a:solidFill>
                  <a:srgbClr val="E8ECF5"/>
                </a:solidFill>
              </a:rPr>
              <a:t>Send signed coins, mine blocks</a:t>
            </a:r>
          </a:p>
          <a:p>
            <a:pPr>
              <a:spcAft>
                <a:spcPts val="800"/>
              </a:spcAft>
            </a:pPr>
            <a:r>
              <a:rPr sz="1600" b="0">
                <a:solidFill>
                  <a:srgbClr val="E8ECF5"/>
                </a:solidFill>
              </a:rPr>
              <a:t>Tamper button → chain turns invalid, faulty block highlighted</a:t>
            </a:r>
          </a:p>
          <a:p>
            <a:pPr>
              <a:spcAft>
                <a:spcPts val="800"/>
              </a:spcAft>
            </a:pPr>
            <a:r>
              <a:rPr sz="1600" b="0">
                <a:solidFill>
                  <a:srgbClr val="E8ECF5"/>
                </a:solidFill>
              </a:rPr>
              <a:t>51% button → fork replaces history</a:t>
            </a:r>
          </a:p>
        </p:txBody>
      </p:sp>
      <p:sp>
        <p:nvSpPr>
          <p:cNvPr id="6" name="Rounded Rectangle 5"/>
          <p:cNvSpPr/>
          <p:nvPr/>
        </p:nvSpPr>
        <p:spPr>
          <a:xfrm>
            <a:off x="6217920" y="1554480"/>
            <a:ext cx="5303520" cy="3291840"/>
          </a:xfrm>
          <a:prstGeom prst="roundRect">
            <a:avLst>
              <a:gd name="adj" fmla="val 6000"/>
            </a:avLst>
          </a:prstGeom>
          <a:solidFill>
            <a:srgbClr val="18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91639"/>
            <a:ext cx="4937759" cy="548640"/>
          </a:xfrm>
          <a:prstGeom prst="rect">
            <a:avLst/>
          </a:prstGeom>
          <a:noFill/>
        </p:spPr>
        <p:txBody>
          <a:bodyPr wrap="square">
            <a:spAutoFit/>
          </a:bodyPr>
          <a:lstStyle/>
          <a:p>
            <a:pPr>
              <a:spcAft>
                <a:spcPts val="800"/>
              </a:spcAft>
            </a:pPr>
            <a:r>
              <a:rPr sz="2000" b="1">
                <a:solidFill>
                  <a:srgbClr val="34D399"/>
                </a:solidFill>
              </a:rPr>
              <a:t>Verification</a:t>
            </a:r>
          </a:p>
        </p:txBody>
      </p:sp>
      <p:sp>
        <p:nvSpPr>
          <p:cNvPr id="8" name="TextBox 7"/>
          <p:cNvSpPr txBox="1"/>
          <p:nvPr/>
        </p:nvSpPr>
        <p:spPr>
          <a:xfrm>
            <a:off x="6400800" y="2240280"/>
            <a:ext cx="4937759" cy="2468880"/>
          </a:xfrm>
          <a:prstGeom prst="rect">
            <a:avLst/>
          </a:prstGeom>
          <a:noFill/>
        </p:spPr>
        <p:txBody>
          <a:bodyPr wrap="square">
            <a:spAutoFit/>
          </a:bodyPr>
          <a:lstStyle/>
          <a:p>
            <a:pPr>
              <a:spcAft>
                <a:spcPts val="800"/>
              </a:spcAft>
            </a:pPr>
            <a:r>
              <a:rPr sz="1600" b="0">
                <a:solidFill>
                  <a:srgbClr val="E8ECF5"/>
                </a:solidFill>
              </a:rPr>
              <a:t>18 / 18 tests pass</a:t>
            </a:r>
          </a:p>
          <a:p>
            <a:pPr>
              <a:spcAft>
                <a:spcPts val="800"/>
              </a:spcAft>
            </a:pPr>
            <a:r>
              <a:rPr sz="1600" b="0">
                <a:solidFill>
                  <a:srgbClr val="E8ECF5"/>
                </a:solidFill>
              </a:rPr>
              <a:t>Console demo of every scenario</a:t>
            </a:r>
          </a:p>
          <a:p>
            <a:pPr>
              <a:spcAft>
                <a:spcPts val="800"/>
              </a:spcAft>
            </a:pPr>
            <a:r>
              <a:rPr sz="1600" b="0">
                <a:solidFill>
                  <a:srgbClr val="E8ECF5"/>
                </a:solidFill>
              </a:rPr>
              <a:t>Mitigation: more confirmations, higher difficulty, checkpoints</a:t>
            </a:r>
          </a:p>
        </p:txBody>
      </p:sp>
      <p:sp>
        <p:nvSpPr>
          <p:cNvPr id="9" name="TextBox 8"/>
          <p:cNvSpPr txBox="1"/>
          <p:nvPr/>
        </p:nvSpPr>
        <p:spPr>
          <a:xfrm>
            <a:off x="640080" y="5303520"/>
            <a:ext cx="10972800" cy="914400"/>
          </a:xfrm>
          <a:prstGeom prst="rect">
            <a:avLst/>
          </a:prstGeom>
          <a:noFill/>
        </p:spPr>
        <p:txBody>
          <a:bodyPr wrap="square">
            <a:spAutoFit/>
          </a:bodyPr>
          <a:lstStyle/>
          <a:p>
            <a:pPr>
              <a:spcAft>
                <a:spcPts val="800"/>
              </a:spcAft>
            </a:pPr>
            <a:r>
              <a:rPr sz="2000" b="0">
                <a:solidFill>
                  <a:srgbClr val="8A95AD"/>
                </a:solidFill>
              </a:rPr>
              <a:t>npm test   ·   npm run demo   ·   npm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20"/>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none">
            <a:spAutoFit/>
          </a:bodyPr>
          <a:lstStyle/>
          <a:p>
            <a:r>
              <a:rPr sz="3600" b="1">
                <a:solidFill>
                  <a:srgbClr val="E8ECF5"/>
                </a:solidFill>
              </a:rPr>
              <a:t>Conclusion</a:t>
            </a:r>
          </a:p>
        </p:txBody>
      </p:sp>
      <p:sp>
        <p:nvSpPr>
          <p:cNvPr id="3" name="TextBox 2"/>
          <p:cNvSpPr txBox="1"/>
          <p:nvPr/>
        </p:nvSpPr>
        <p:spPr>
          <a:xfrm>
            <a:off x="640080" y="1554480"/>
            <a:ext cx="10972800" cy="2743200"/>
          </a:xfrm>
          <a:prstGeom prst="rect">
            <a:avLst/>
          </a:prstGeom>
          <a:noFill/>
        </p:spPr>
        <p:txBody>
          <a:bodyPr wrap="square">
            <a:spAutoFit/>
          </a:bodyPr>
          <a:lstStyle/>
          <a:p>
            <a:pPr>
              <a:spcAft>
                <a:spcPts val="800"/>
              </a:spcAft>
            </a:pPr>
            <a:r>
              <a:rPr sz="2400" b="0">
                <a:solidFill>
                  <a:srgbClr val="E8ECF5"/>
                </a:solidFill>
              </a:rPr>
              <a:t>✔  Tamper-evident ledger with signed, replay-proof transactions</a:t>
            </a:r>
          </a:p>
          <a:p>
            <a:pPr>
              <a:spcAft>
                <a:spcPts val="800"/>
              </a:spcAft>
            </a:pPr>
            <a:r>
              <a:rPr sz="2400" b="0">
                <a:solidFill>
                  <a:srgbClr val="E8ECF5"/>
                </a:solidFill>
              </a:rPr>
              <a:t>✔  Proof-of-work consensus with fork resolution</a:t>
            </a:r>
          </a:p>
          <a:p>
            <a:pPr>
              <a:spcAft>
                <a:spcPts val="800"/>
              </a:spcAft>
            </a:pPr>
            <a:r>
              <a:rPr sz="2400" b="0">
                <a:solidFill>
                  <a:srgbClr val="E8ECF5"/>
                </a:solidFill>
              </a:rPr>
              <a:t>✔  Attacks demonstrated – including where the design breaks (51%)</a:t>
            </a:r>
          </a:p>
          <a:p>
            <a:pPr>
              <a:spcAft>
                <a:spcPts val="800"/>
              </a:spcAft>
            </a:pPr>
            <a:r>
              <a:rPr sz="2400" b="0">
                <a:solidFill>
                  <a:srgbClr val="E8ECF5"/>
                </a:solidFill>
              </a:rPr>
              <a:t>Future work: peer-to-peer network, dynamic difficulty, fees, PoS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